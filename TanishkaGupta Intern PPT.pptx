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40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5580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783810" y="-2170207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" name="Shape 2"/>
          <p:cNvSpPr/>
          <p:nvPr/>
        </p:nvSpPr>
        <p:spPr>
          <a:xfrm>
            <a:off x="9907892" y="-962699"/>
            <a:ext cx="3291840" cy="3291840"/>
          </a:xfrm>
          <a:prstGeom prst="ellipse">
            <a:avLst/>
          </a:prstGeom>
          <a:solidFill>
            <a:srgbClr val="3D8BFF">
              <a:alpha val="22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981456" y="937353"/>
            <a:ext cx="9875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Intelligent Invoice Processing</a:t>
            </a:r>
            <a:endParaRPr lang="en-US" sz="4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Semantic Search Engine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81456" y="2512151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GenAI-Powered Multimodal OCR, Vector Search &amp; Cloud-Native Architecture</a:t>
            </a:r>
            <a:endParaRPr lang="en-US" sz="1600" dirty="0"/>
          </a:p>
        </p:txBody>
      </p:sp>
      <p:pic>
        <p:nvPicPr>
          <p:cNvPr id="8" name="Image 0" descr="./icons/fasta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681" y="3478341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9521" y="401846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000" dirty="0"/>
          </a:p>
        </p:txBody>
      </p:sp>
      <p:pic>
        <p:nvPicPr>
          <p:cNvPr id="10" name="Image 1" descr="./icons/postgr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6801" y="3478341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9641" y="4093639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pic>
        <p:nvPicPr>
          <p:cNvPr id="12" name="Image 2" descr="./icons/re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921" y="3478337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789761" y="4022035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000" dirty="0"/>
          </a:p>
        </p:txBody>
      </p:sp>
      <p:pic>
        <p:nvPicPr>
          <p:cNvPr id="14" name="Image 3" descr="./icons/dock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7041" y="3517752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749881" y="4030505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1005945" y="4541956"/>
            <a:ext cx="91439" cy="1477166"/>
          </a:xfrm>
          <a:prstGeom prst="rect">
            <a:avLst/>
          </a:prstGeom>
          <a:solidFill>
            <a:srgbClr val="3D8BFF"/>
          </a:solidFill>
          <a:ln/>
        </p:spPr>
      </p:sp>
      <p:sp>
        <p:nvSpPr>
          <p:cNvPr id="17" name="Text 11"/>
          <p:cNvSpPr/>
          <p:nvPr/>
        </p:nvSpPr>
        <p:spPr>
          <a:xfrm>
            <a:off x="1152731" y="47339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Tanishka Gupta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Roll No: 23UCS722
Department of Computer Science &amp; Engineering, The LNM Institute of Information </a:t>
            </a:r>
            <a:r>
              <a:rPr lang="en-IN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Faculty Mentors:  Dr. Aniket Pal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Mentor: Mr. Kailash Gupta – Senior Manager, Accounts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Enterprise Challenge: Unstructured Invoice Ingestion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7F8FC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./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002536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56032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Volume &amp; Heterogeneity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953512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Businesses handle thousands of invoices daily in variable formats — scanned paper, native PDFs, photo receipts.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6002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7F8FC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9" name="Shape 6"/>
          <p:cNvSpPr/>
          <p:nvPr/>
        </p:nvSpPr>
        <p:spPr>
          <a:xfrm>
            <a:off x="6537960" y="187452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./icons/c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5976" y="2002536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37960" y="256032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Entry Bottlenecks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537960" y="2953512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Transcribing invoice fields manually is labor-intensive (5–10 min/invoice) and error-prone (~4% error rate).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402336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7F8FC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22960" y="429768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2" descr="./icons/refre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4425696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2960" y="498348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Fragility of Legacy OCR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2960" y="5376672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Template-based OCR breaks whenever layout structures change across vendors.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263640" y="402336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7F8FC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537960" y="429768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./icons/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5976" y="4425696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537960" y="498348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Limitations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537960" y="5376672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SQL search cannot execute natural language queries like "find logistics expenses over $5k last quarter".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45720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Invoice Processing &amp; Semantic Search Engine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521440" y="656539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Solution: Decoupled GenAI Document Intelligence Engine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896112"/>
          </a:xfrm>
          <a:prstGeom prst="roundRect">
            <a:avLst>
              <a:gd name="adj" fmla="val 7143"/>
            </a:avLst>
          </a:prstGeom>
          <a:solidFill>
            <a:srgbClr val="F7F8F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728216"/>
            <a:ext cx="548640" cy="54864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5" name="Image 0" descr="./icons/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56232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627632"/>
            <a:ext cx="33832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Ingestion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74920" y="1627632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blob archiving via Azurite (Azure Blob Storage emulation).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523744"/>
            <a:ext cx="1106424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2697480"/>
            <a:ext cx="548640" cy="54864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10" name="Image 1" descr="./icons/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2596896"/>
            <a:ext cx="33832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Multimodal Layout Extraction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074920" y="2596896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Document Intelligence + fallback parsers for key-value &amp; line-item structuring.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3493008"/>
            <a:ext cx="11064240" cy="896112"/>
          </a:xfrm>
          <a:prstGeom prst="roundRect">
            <a:avLst>
              <a:gd name="adj" fmla="val 7143"/>
            </a:avLst>
          </a:prstGeom>
          <a:solidFill>
            <a:srgbClr val="F7F8F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4" name="Shape 10"/>
          <p:cNvSpPr/>
          <p:nvPr/>
        </p:nvSpPr>
        <p:spPr>
          <a:xfrm>
            <a:off x="777240" y="3666744"/>
            <a:ext cx="548640" cy="54864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15" name="Image 2" descr="./icons/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794760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3566160"/>
            <a:ext cx="33832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 Vector Indexing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5074920" y="3566160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document context into 384-dimensional dense vectors using SentenceTransformers.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48640" y="4462272"/>
            <a:ext cx="1106424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" name="Shape 14"/>
          <p:cNvSpPr/>
          <p:nvPr/>
        </p:nvSpPr>
        <p:spPr>
          <a:xfrm>
            <a:off x="777240" y="4636008"/>
            <a:ext cx="548640" cy="54864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20" name="Image 3" descr="./icons/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764024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00200" y="4535424"/>
            <a:ext cx="33832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Search Capabilities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074920" y="4535424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exact SQL metadata filters with Qdrant vector similarity search.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5431536"/>
            <a:ext cx="11064240" cy="896112"/>
          </a:xfrm>
          <a:prstGeom prst="roundRect">
            <a:avLst>
              <a:gd name="adj" fmla="val 7143"/>
            </a:avLst>
          </a:prstGeom>
          <a:solidFill>
            <a:srgbClr val="F7F8FC"/>
          </a:solidFill>
          <a:ln/>
        </p:spPr>
      </p:sp>
      <p:sp>
        <p:nvSpPr>
          <p:cNvPr id="24" name="Shape 18"/>
          <p:cNvSpPr/>
          <p:nvPr/>
        </p:nvSpPr>
        <p:spPr>
          <a:xfrm>
            <a:off x="777240" y="5605272"/>
            <a:ext cx="548640" cy="54864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25" name="Image 4" descr="./icons/gr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5733288"/>
            <a:ext cx="292608" cy="29260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600200" y="5504688"/>
            <a:ext cx="33832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Glassmorphic User Dashboard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5074920" y="5504688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frontend with live infrastructure status monitoring and instant PDF preview.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5720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Invoice Processing &amp; Semantic Search Engine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521440" y="656539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Project Objectives &amp; Capabilities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18922" y="990705"/>
            <a:ext cx="3504438" cy="1737360"/>
          </a:xfrm>
          <a:prstGeom prst="roundRect">
            <a:avLst>
              <a:gd name="adj" fmla="val 25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93242" y="1191873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D8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93242" y="1740513"/>
            <a:ext cx="594360" cy="59436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pic>
        <p:nvPicPr>
          <p:cNvPr id="6" name="Image 0" descr="./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546" y="1886817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68730" y="1036425"/>
            <a:ext cx="25054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Data Loss Ingestion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424178" y="1617069"/>
            <a:ext cx="227464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PDF stream storage with local failover handling.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93776" y="2852928"/>
            <a:ext cx="3529584" cy="1737360"/>
          </a:xfrm>
          <a:prstGeom prst="roundRect">
            <a:avLst>
              <a:gd name="adj" fmla="val 2500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D8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68096" y="3602736"/>
            <a:ext cx="594360" cy="59436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pic>
        <p:nvPicPr>
          <p:cNvPr id="12" name="Image 1" descr="./icons/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749040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02436" y="2916936"/>
            <a:ext cx="298094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Field Structuring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357884" y="3525012"/>
            <a:ext cx="26746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Vendor, Invoice #, Date, Currency, Tax, Total Amount, and Line Items.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02920" y="4736592"/>
            <a:ext cx="3529584" cy="1652226"/>
          </a:xfrm>
          <a:prstGeom prst="roundRect">
            <a:avLst>
              <a:gd name="adj" fmla="val 2500"/>
            </a:avLst>
          </a:prstGeom>
          <a:solidFill>
            <a:srgbClr val="1E2761"/>
          </a:solidFill>
          <a:ln/>
        </p:spPr>
      </p:sp>
      <p:sp>
        <p:nvSpPr>
          <p:cNvPr id="16" name="Text 12"/>
          <p:cNvSpPr/>
          <p:nvPr/>
        </p:nvSpPr>
        <p:spPr>
          <a:xfrm>
            <a:off x="777240" y="4937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D8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777240" y="5486400"/>
            <a:ext cx="594360" cy="59436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pic>
        <p:nvPicPr>
          <p:cNvPr id="18" name="Image 2" descr="./icons/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5632704"/>
            <a:ext cx="301752" cy="30175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25296" y="4818888"/>
            <a:ext cx="298094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Language Semantic Search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380744" y="5367686"/>
            <a:ext cx="27477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similarity matching (e.g., "office stationery supplies").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4021469" y="1007102"/>
            <a:ext cx="4147174" cy="960120"/>
          </a:xfrm>
          <a:prstGeom prst="roundRect">
            <a:avLst>
              <a:gd name="adj" fmla="val 7619"/>
            </a:avLst>
          </a:prstGeom>
          <a:solidFill>
            <a:srgbClr val="F7F8F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2" name="Shape 17"/>
          <p:cNvSpPr/>
          <p:nvPr/>
        </p:nvSpPr>
        <p:spPr>
          <a:xfrm>
            <a:off x="4222636" y="1208270"/>
            <a:ext cx="550532" cy="54864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23" name="Image 3" descr="./icons/activi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9796" y="1345430"/>
            <a:ext cx="275267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935868" y="1098542"/>
            <a:ext cx="4450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Infrastructure Health Monitoring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4935868" y="1482590"/>
            <a:ext cx="33101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status chips for FastAPI, PostgreSQL, Qdrant, and Azurite.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8245997" y="1007102"/>
            <a:ext cx="3614166" cy="960120"/>
          </a:xfrm>
          <a:prstGeom prst="roundRect">
            <a:avLst>
              <a:gd name="adj" fmla="val 7619"/>
            </a:avLst>
          </a:prstGeom>
          <a:solidFill>
            <a:srgbClr val="F7F8FC"/>
          </a:solidFill>
          <a:ln/>
        </p:spPr>
        <p:txBody>
          <a:bodyPr/>
          <a:lstStyle/>
          <a:p>
            <a:endParaRPr lang="en-IN" sz="2000" dirty="0"/>
          </a:p>
        </p:txBody>
      </p:sp>
      <p:sp>
        <p:nvSpPr>
          <p:cNvPr id="27" name="Shape 21"/>
          <p:cNvSpPr/>
          <p:nvPr/>
        </p:nvSpPr>
        <p:spPr>
          <a:xfrm>
            <a:off x="8506971" y="1208270"/>
            <a:ext cx="548640" cy="54864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28" name="Image 4" descr="./icons/bo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4131" y="1345430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20203" y="109854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Containerized Deployment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9220203" y="1482590"/>
            <a:ext cx="230123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initialization using Docker Compose</a:t>
            </a: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45720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Invoice Processing &amp; Semantic Search Engine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1521440" y="656539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5184308F-9060-BFDE-DD18-97937631EF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5564" y="2151364"/>
            <a:ext cx="7739292" cy="42037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Microservice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7844" y="1571665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pic>
        <p:nvPicPr>
          <p:cNvPr id="4" name="Image 0" descr="./icons/re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724" y="1845985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23644" y="1571665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Frontend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1899692" y="3119206"/>
            <a:ext cx="8483320" cy="219456"/>
          </a:xfrm>
          <a:prstGeom prst="rightArrow">
            <a:avLst/>
          </a:prstGeom>
          <a:solidFill>
            <a:srgbClr val="3D8BFF"/>
          </a:solidFill>
          <a:ln/>
        </p:spPr>
      </p:sp>
      <p:sp>
        <p:nvSpPr>
          <p:cNvPr id="7" name="Shape 4"/>
          <p:cNvSpPr/>
          <p:nvPr/>
        </p:nvSpPr>
        <p:spPr>
          <a:xfrm>
            <a:off x="4870441" y="1559052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pic>
        <p:nvPicPr>
          <p:cNvPr id="8" name="Image 1" descr="./icons/fast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1220" y="1833372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4140" y="1559052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FastAPI Backend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000303" y="2565674"/>
            <a:ext cx="219456" cy="723325"/>
          </a:xfrm>
          <a:prstGeom prst="downArrow">
            <a:avLst/>
          </a:prstGeom>
          <a:solidFill>
            <a:srgbClr val="3D8BF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Shape 7"/>
          <p:cNvSpPr/>
          <p:nvPr/>
        </p:nvSpPr>
        <p:spPr>
          <a:xfrm>
            <a:off x="717804" y="3886199"/>
            <a:ext cx="2468880" cy="1379483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1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1677924" y="4050792"/>
            <a:ext cx="548640" cy="54864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13" name="Image 2" descr="./icons/clou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4197096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17804" y="46634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Azurite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717804" y="4919472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Storage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3479292" y="3886200"/>
            <a:ext cx="2468880" cy="1379482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1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4439412" y="4050792"/>
            <a:ext cx="548640" cy="54864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18" name="Image 3" descr="./icons/ey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7428" y="41970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479292" y="46634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 AI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3479292" y="4919472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/ Layout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240780" y="3886200"/>
            <a:ext cx="2468880" cy="1379482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1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200900" y="4050792"/>
            <a:ext cx="548640" cy="54864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23" name="Image 4" descr="./icons/postgresq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8916" y="4197096"/>
            <a:ext cx="292608" cy="29260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240780" y="46634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6240780" y="4919472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</a:t>
            </a:r>
            <a:r>
              <a:rPr lang="en-US" sz="10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DB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9002268" y="3886199"/>
            <a:ext cx="2468880" cy="1379481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1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9962388" y="4050792"/>
            <a:ext cx="548640" cy="54864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28" name="Image 5" descr="./icons/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90404" y="4197096"/>
            <a:ext cx="292608" cy="29260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002268" y="46634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Qdrant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9002268" y="4919472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Engine</a:t>
            </a:r>
            <a:endParaRPr lang="en-US" sz="1000" dirty="0"/>
          </a:p>
        </p:txBody>
      </p:sp>
      <p:sp>
        <p:nvSpPr>
          <p:cNvPr id="31" name="Shape 23"/>
          <p:cNvSpPr/>
          <p:nvPr/>
        </p:nvSpPr>
        <p:spPr>
          <a:xfrm>
            <a:off x="548640" y="5440680"/>
            <a:ext cx="11064240" cy="502920"/>
          </a:xfrm>
          <a:prstGeom prst="roundRect">
            <a:avLst>
              <a:gd name="adj" fmla="val 10909"/>
            </a:avLst>
          </a:prstGeom>
          <a:solidFill>
            <a:srgbClr val="141B4D"/>
          </a:solidFill>
          <a:ln/>
        </p:spPr>
      </p:sp>
      <p:sp>
        <p:nvSpPr>
          <p:cNvPr id="32" name="Text 24"/>
          <p:cNvSpPr/>
          <p:nvPr/>
        </p:nvSpPr>
        <p:spPr>
          <a:xfrm>
            <a:off x="731520" y="544068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Upload  ›  Azurite Archival  ›  Doc AI / OCR Parsing  ›  Relational Commit  ›  Vector Encoding  ›  Qdrant Indexing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45720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Invoice Processing &amp; Semantic Search Engine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1521440" y="656539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2E439C43-3F85-83B4-9459-F0AEE9078644}"/>
              </a:ext>
            </a:extLst>
          </p:cNvPr>
          <p:cNvSpPr/>
          <p:nvPr/>
        </p:nvSpPr>
        <p:spPr>
          <a:xfrm>
            <a:off x="4640579" y="3247696"/>
            <a:ext cx="219457" cy="562198"/>
          </a:xfrm>
          <a:prstGeom prst="downArrow">
            <a:avLst/>
          </a:prstGeom>
          <a:solidFill>
            <a:srgbClr val="3D8BFF"/>
          </a:solidFill>
          <a:ln/>
        </p:spPr>
      </p:sp>
      <p:sp>
        <p:nvSpPr>
          <p:cNvPr id="38" name="Shape 6">
            <a:extLst>
              <a:ext uri="{FF2B5EF4-FFF2-40B4-BE49-F238E27FC236}">
                <a16:creationId xmlns:a16="http://schemas.microsoft.com/office/drawing/2014/main" id="{15B19FAE-23D4-123A-757F-6D732F862CE4}"/>
              </a:ext>
            </a:extLst>
          </p:cNvPr>
          <p:cNvSpPr/>
          <p:nvPr/>
        </p:nvSpPr>
        <p:spPr>
          <a:xfrm>
            <a:off x="7402067" y="3250850"/>
            <a:ext cx="219457" cy="562198"/>
          </a:xfrm>
          <a:prstGeom prst="downArrow">
            <a:avLst/>
          </a:prstGeom>
          <a:solidFill>
            <a:srgbClr val="3D8BFF"/>
          </a:solidFill>
          <a:ln/>
        </p:spPr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4C8387DD-B06B-85B9-E3A1-747AAA53CFA0}"/>
              </a:ext>
            </a:extLst>
          </p:cNvPr>
          <p:cNvSpPr/>
          <p:nvPr/>
        </p:nvSpPr>
        <p:spPr>
          <a:xfrm>
            <a:off x="10126979" y="3254634"/>
            <a:ext cx="219457" cy="562198"/>
          </a:xfrm>
          <a:prstGeom prst="downArrow">
            <a:avLst/>
          </a:prstGeom>
          <a:solidFill>
            <a:srgbClr val="3D8BFF"/>
          </a:solidFill>
          <a:ln/>
        </p:spPr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A9328F51-1A7F-5875-7E97-F21AD189FB14}"/>
              </a:ext>
            </a:extLst>
          </p:cNvPr>
          <p:cNvSpPr/>
          <p:nvPr/>
        </p:nvSpPr>
        <p:spPr>
          <a:xfrm>
            <a:off x="1845564" y="3264407"/>
            <a:ext cx="219457" cy="562198"/>
          </a:xfrm>
          <a:prstGeom prst="downArrow">
            <a:avLst/>
          </a:prstGeom>
          <a:solidFill>
            <a:srgbClr val="3D8BFF"/>
          </a:solidFill>
          <a:ln/>
        </p:spPr>
      </p:sp>
      <p:sp>
        <p:nvSpPr>
          <p:cNvPr id="44" name="Shape 6">
            <a:extLst>
              <a:ext uri="{FF2B5EF4-FFF2-40B4-BE49-F238E27FC236}">
                <a16:creationId xmlns:a16="http://schemas.microsoft.com/office/drawing/2014/main" id="{14D3BCBA-7C43-6556-3F59-BA7383C92509}"/>
              </a:ext>
            </a:extLst>
          </p:cNvPr>
          <p:cNvSpPr/>
          <p:nvPr/>
        </p:nvSpPr>
        <p:spPr>
          <a:xfrm rot="16200000">
            <a:off x="4060566" y="1457834"/>
            <a:ext cx="219458" cy="1162551"/>
          </a:xfrm>
          <a:prstGeom prst="downArrow">
            <a:avLst/>
          </a:prstGeom>
          <a:solidFill>
            <a:srgbClr val="3D8BFF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Decoupled Technology Stack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9313126"/>
              </p:ext>
            </p:extLst>
          </p:nvPr>
        </p:nvGraphicFramePr>
        <p:xfrm>
          <a:off x="548640" y="1600200"/>
          <a:ext cx="11064240" cy="4608576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Layer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Technologies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Backend API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3.11, FastAPI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Relational DB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16 — Structured metadata &amp; audit logs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Vector DB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 Vector Engine — 384-d Cosine similarity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Cloud Blob Storage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Azurite (Azure Blob Emulator)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AI Models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Document Intelligence (prebuilt-invoice) &amp; SentenceTransformers (all-MiniLM-L6-v2)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Frontend UI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18, Vite, Lucide Icons, Glassmorphic Vanilla CSS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Orchestration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&amp; Docker Compose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Invoice Processing &amp; Semantic Search Engine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521440" y="656539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Dual Data Strategy: Relational + Vector + Blob Storage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20440" cy="4023360"/>
          </a:xfrm>
          <a:prstGeom prst="roundRect">
            <a:avLst>
              <a:gd name="adj" fmla="val 2597"/>
            </a:avLst>
          </a:prstGeom>
          <a:solidFill>
            <a:srgbClr val="1E2761"/>
          </a:solidFill>
          <a:ln/>
        </p:spPr>
      </p:sp>
      <p:sp>
        <p:nvSpPr>
          <p:cNvPr id="4" name="Shape 2"/>
          <p:cNvSpPr/>
          <p:nvPr/>
        </p:nvSpPr>
        <p:spPr>
          <a:xfrm>
            <a:off x="1897380" y="2103120"/>
            <a:ext cx="822960" cy="82296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pic>
        <p:nvPicPr>
          <p:cNvPr id="5" name="Image 0" descr="./icons/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404" y="229514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320040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Azurite Blob Storage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397764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raw PDF files (invoices-raw container) for compliance and auditing.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334256" y="1737360"/>
            <a:ext cx="3520440" cy="4023360"/>
          </a:xfrm>
          <a:prstGeom prst="roundRect">
            <a:avLst>
              <a:gd name="adj" fmla="val 2597"/>
            </a:avLst>
          </a:prstGeom>
          <a:solidFill>
            <a:srgbClr val="2B4C8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Shape 6"/>
          <p:cNvSpPr/>
          <p:nvPr/>
        </p:nvSpPr>
        <p:spPr>
          <a:xfrm>
            <a:off x="5682996" y="2103120"/>
            <a:ext cx="822960" cy="82296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pic>
        <p:nvPicPr>
          <p:cNvPr id="10" name="Image 1" descr="./icons/postgr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020" y="229514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62856" y="320040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Database</a:t>
            </a: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4608576" y="397764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schema storing structured metrics — vendor_name, total_amount, invoice_date, line_items_json.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119872" y="1737360"/>
            <a:ext cx="3520440" cy="4023360"/>
          </a:xfrm>
          <a:prstGeom prst="roundRect">
            <a:avLst>
              <a:gd name="adj" fmla="val 2597"/>
            </a:avLst>
          </a:prstGeom>
          <a:solidFill>
            <a:srgbClr val="3D8BF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4" name="Shape 10"/>
          <p:cNvSpPr/>
          <p:nvPr/>
        </p:nvSpPr>
        <p:spPr>
          <a:xfrm>
            <a:off x="9468612" y="2103120"/>
            <a:ext cx="822960" cy="82296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pic>
        <p:nvPicPr>
          <p:cNvPr id="15" name="Image 2" descr="./icons/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0636" y="229514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48472" y="320040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Qdrant Vector DB</a:t>
            </a: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8394192" y="397764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collection invoices_vector_index holding 384-dimensional dense embeddings for natural language search.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5720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Invoice Processing &amp; Semantic Search Engine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521440" y="656539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 AI Extraction &amp; Semantic Search Workflow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577340" y="1783080"/>
            <a:ext cx="640080" cy="640080"/>
          </a:xfrm>
          <a:prstGeom prst="ellipse">
            <a:avLst/>
          </a:prstGeom>
          <a:solidFill>
            <a:srgbClr val="1E276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77340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2560320"/>
            <a:ext cx="2423160" cy="283464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1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604772" y="2834640"/>
            <a:ext cx="585216" cy="585216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7" name="Image 0" descr="./icons/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932" y="2971800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61188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Key-Value Extraction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4297680"/>
            <a:ext cx="2057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unstructured layout fields to Pydantic models.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163824" y="3867912"/>
            <a:ext cx="274320" cy="219456"/>
          </a:xfrm>
          <a:prstGeom prst="rightArrow">
            <a:avLst/>
          </a:prstGeom>
          <a:solidFill>
            <a:srgbClr val="3D8BFF"/>
          </a:solidFill>
          <a:ln/>
        </p:spPr>
      </p:sp>
      <p:sp>
        <p:nvSpPr>
          <p:cNvPr id="11" name="Shape 8"/>
          <p:cNvSpPr/>
          <p:nvPr/>
        </p:nvSpPr>
        <p:spPr>
          <a:xfrm>
            <a:off x="4384548" y="1783080"/>
            <a:ext cx="640080" cy="640080"/>
          </a:xfrm>
          <a:prstGeom prst="ellipse">
            <a:avLst/>
          </a:prstGeom>
          <a:solidFill>
            <a:srgbClr val="1E276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4548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3493008" y="2560320"/>
            <a:ext cx="2423160" cy="283464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1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4" name="Shape 11"/>
          <p:cNvSpPr/>
          <p:nvPr/>
        </p:nvSpPr>
        <p:spPr>
          <a:xfrm>
            <a:off x="4411980" y="2834640"/>
            <a:ext cx="585216" cy="585216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15" name="Image 1" descr="./icons/refre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9140" y="2971800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30168" y="361188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Fallback Parsing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3675888" y="4297680"/>
            <a:ext cx="2057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PyPDF &amp; local regex fallback when cloud keys are offline.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971032" y="3867912"/>
            <a:ext cx="274320" cy="219456"/>
          </a:xfrm>
          <a:prstGeom prst="rightArrow">
            <a:avLst/>
          </a:prstGeom>
          <a:solidFill>
            <a:srgbClr val="3D8BFF"/>
          </a:solidFill>
          <a:ln/>
        </p:spPr>
      </p:sp>
      <p:sp>
        <p:nvSpPr>
          <p:cNvPr id="19" name="Shape 15"/>
          <p:cNvSpPr/>
          <p:nvPr/>
        </p:nvSpPr>
        <p:spPr>
          <a:xfrm>
            <a:off x="7191756" y="1783080"/>
            <a:ext cx="640080" cy="640080"/>
          </a:xfrm>
          <a:prstGeom prst="ellipse">
            <a:avLst/>
          </a:prstGeom>
          <a:solidFill>
            <a:srgbClr val="1E276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191756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6300216" y="2560320"/>
            <a:ext cx="2423160" cy="283464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1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19188" y="2834640"/>
            <a:ext cx="585216" cy="585216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23" name="Image 2" descr="./icons/cp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6348" y="2971800"/>
            <a:ext cx="310896" cy="31089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437376" y="361188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 Embedding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6483096" y="4297680"/>
            <a:ext cx="2057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text chunks into dense 384-d vectors using all-MiniLM-L6-v2.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8778240" y="3867912"/>
            <a:ext cx="274320" cy="219456"/>
          </a:xfrm>
          <a:prstGeom prst="rightArrow">
            <a:avLst/>
          </a:prstGeom>
          <a:solidFill>
            <a:srgbClr val="3D8BFF"/>
          </a:solidFill>
          <a:ln/>
        </p:spPr>
      </p:sp>
      <p:sp>
        <p:nvSpPr>
          <p:cNvPr id="27" name="Shape 22"/>
          <p:cNvSpPr/>
          <p:nvPr/>
        </p:nvSpPr>
        <p:spPr>
          <a:xfrm>
            <a:off x="9998964" y="1783080"/>
            <a:ext cx="640080" cy="640080"/>
          </a:xfrm>
          <a:prstGeom prst="ellipse">
            <a:avLst/>
          </a:prstGeom>
          <a:solidFill>
            <a:srgbClr val="1E276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9998964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Shape 24"/>
          <p:cNvSpPr/>
          <p:nvPr/>
        </p:nvSpPr>
        <p:spPr>
          <a:xfrm>
            <a:off x="9107424" y="2560320"/>
            <a:ext cx="2423160" cy="283464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1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10026396" y="2834640"/>
            <a:ext cx="585216" cy="585216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31" name="Image 3" descr="./icons/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3556" y="2971800"/>
            <a:ext cx="310896" cy="310896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244584" y="361188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Similarity Search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9290304" y="4297680"/>
            <a:ext cx="2057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Performs Cosine Distance calculation over Qdrant collections.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45720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Invoice Processing &amp; Semantic Search Engine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1521440" y="656539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>
          <a:gsLst>
            <a:gs pos="0">
              <a:schemeClr val="bg2">
                <a:lumMod val="50000"/>
              </a:schemeClr>
            </a:gs>
            <a:gs pos="32000">
              <a:schemeClr val="accent1">
                <a:lumMod val="60000"/>
                <a:lumOff val="40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60000"/>
                <a:lumOff val="4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High-End Glassmorphic Dashboard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Interface — Modern Glassmorphism Design Principles</a:t>
            </a:r>
            <a:endParaRPr lang="en-US" sz="1300" dirty="0"/>
          </a:p>
        </p:txBody>
      </p:sp>
      <p:sp>
        <p:nvSpPr>
          <p:cNvPr id="32" name="Shape 25"/>
          <p:cNvSpPr/>
          <p:nvPr/>
        </p:nvSpPr>
        <p:spPr>
          <a:xfrm>
            <a:off x="6949440" y="1828800"/>
            <a:ext cx="502920" cy="50292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33" name="Image 5" descr="./icons/up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1947672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7635240" y="1668780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document upload dropzone</a:t>
            </a:r>
            <a:endParaRPr lang="en-US" sz="1400" dirty="0"/>
          </a:p>
        </p:txBody>
      </p:sp>
      <p:sp>
        <p:nvSpPr>
          <p:cNvPr id="35" name="Shape 27"/>
          <p:cNvSpPr/>
          <p:nvPr/>
        </p:nvSpPr>
        <p:spPr>
          <a:xfrm>
            <a:off x="6949440" y="2944368"/>
            <a:ext cx="502920" cy="50292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36" name="Image 6" descr="./icons/activ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3063240"/>
            <a:ext cx="274320" cy="27432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635240" y="2852928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system status indicators (ports 8000, 5432, 6333, 10000)</a:t>
            </a:r>
            <a:endParaRPr lang="en-US" sz="1400" dirty="0"/>
          </a:p>
        </p:txBody>
      </p:sp>
      <p:sp>
        <p:nvSpPr>
          <p:cNvPr id="38" name="Shape 29"/>
          <p:cNvSpPr/>
          <p:nvPr/>
        </p:nvSpPr>
        <p:spPr>
          <a:xfrm>
            <a:off x="6949440" y="4059936"/>
            <a:ext cx="502920" cy="50292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39" name="Image 7" descr="./icons/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4178808"/>
            <a:ext cx="274320" cy="274320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7635240" y="3886200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filter chips &amp; natural-language query box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6949440" y="5175504"/>
            <a:ext cx="502920" cy="50292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42" name="Image 8" descr="./icons/ey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8312" y="5294376"/>
            <a:ext cx="274320" cy="274320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7635240" y="5038344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invoice list with side-by-side document preview</a:t>
            </a:r>
            <a:endParaRPr lang="en-US" sz="1400" dirty="0"/>
          </a:p>
        </p:txBody>
      </p:sp>
      <p:sp>
        <p:nvSpPr>
          <p:cNvPr id="44" name="Text 33"/>
          <p:cNvSpPr/>
          <p:nvPr/>
        </p:nvSpPr>
        <p:spPr>
          <a:xfrm>
            <a:off x="45720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Invoice Processing &amp; Semantic Search Engine</a:t>
            </a:r>
            <a:endParaRPr lang="en-US" sz="900" dirty="0"/>
          </a:p>
        </p:txBody>
      </p:sp>
      <p:sp>
        <p:nvSpPr>
          <p:cNvPr id="45" name="Text 34"/>
          <p:cNvSpPr/>
          <p:nvPr/>
        </p:nvSpPr>
        <p:spPr>
          <a:xfrm>
            <a:off x="11521440" y="656539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C98503CD-278A-4660-FF3C-2F3391864E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752" y="1668780"/>
            <a:ext cx="6339946" cy="42882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Methodology &amp; Verification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4810" y="1122663"/>
            <a:ext cx="2829910" cy="1163337"/>
          </a:xfrm>
          <a:prstGeom prst="roundRect">
            <a:avLst>
              <a:gd name="adj" fmla="val 2778"/>
            </a:avLst>
          </a:prstGeom>
          <a:solidFill>
            <a:srgbClr val="F7F8FC"/>
          </a:solidFill>
          <a:ln/>
        </p:spPr>
      </p:sp>
      <p:sp>
        <p:nvSpPr>
          <p:cNvPr id="6" name="Text 3"/>
          <p:cNvSpPr/>
          <p:nvPr/>
        </p:nvSpPr>
        <p:spPr>
          <a:xfrm>
            <a:off x="613910" y="1122664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 Architecture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13910" y="129845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Component-driven development with decoupled microservices.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3233" y="2628900"/>
            <a:ext cx="2831487" cy="1440180"/>
          </a:xfrm>
          <a:prstGeom prst="roundRect">
            <a:avLst>
              <a:gd name="adj" fmla="val 2778"/>
            </a:avLst>
          </a:prstGeom>
          <a:solidFill>
            <a:srgbClr val="F7F8FC"/>
          </a:solidFill>
          <a:ln/>
        </p:spPr>
      </p:sp>
      <p:sp>
        <p:nvSpPr>
          <p:cNvPr id="11" name="Text 7"/>
          <p:cNvSpPr/>
          <p:nvPr/>
        </p:nvSpPr>
        <p:spPr>
          <a:xfrm>
            <a:off x="548640" y="25831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AI-Assisted Prototyping</a:t>
            </a: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548640" y="297180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Accelerated schema design, FastAPI route setup, and container orchestration.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43232" y="4274820"/>
            <a:ext cx="2831488" cy="1783080"/>
          </a:xfrm>
          <a:prstGeom prst="roundRect">
            <a:avLst>
              <a:gd name="adj" fmla="val 2778"/>
            </a:avLst>
          </a:prstGeom>
          <a:solidFill>
            <a:srgbClr val="F7F8F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6" name="Text 11"/>
          <p:cNvSpPr/>
          <p:nvPr/>
        </p:nvSpPr>
        <p:spPr>
          <a:xfrm>
            <a:off x="435127" y="4229100"/>
            <a:ext cx="31392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Verification &amp; Testing</a:t>
            </a: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480847" y="4823460"/>
            <a:ext cx="304416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validation of PDF stream upload, vector scoring accuracy, and database transactions.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45720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Invoice Processing &amp; Semantic Search Engine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521440" y="656539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E9E7167-BC39-CD5D-D84A-6AB8AF28E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8095" y="1298450"/>
            <a:ext cx="8203082" cy="4547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Roadmap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22910" y="1645920"/>
            <a:ext cx="5212080" cy="4297680"/>
          </a:xfrm>
          <a:prstGeom prst="roundRect">
            <a:avLst>
              <a:gd name="adj" fmla="val 2128"/>
            </a:avLst>
          </a:prstGeom>
          <a:solidFill>
            <a:srgbClr val="F7F8FC"/>
          </a:solidFill>
          <a:ln/>
        </p:spPr>
      </p:sp>
      <p:sp>
        <p:nvSpPr>
          <p:cNvPr id="4" name="Text 2"/>
          <p:cNvSpPr/>
          <p:nvPr/>
        </p:nvSpPr>
        <p:spPr>
          <a:xfrm>
            <a:off x="708660" y="247404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CONSTRAINTS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16280" y="3126697"/>
            <a:ext cx="457200" cy="457200"/>
          </a:xfrm>
          <a:prstGeom prst="ellipse">
            <a:avLst/>
          </a:prstGeom>
          <a:solidFill>
            <a:srgbClr val="8A90A6"/>
          </a:solidFill>
          <a:ln/>
        </p:spPr>
      </p:sp>
      <p:pic>
        <p:nvPicPr>
          <p:cNvPr id="6" name="Image 0" descr="./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008" y="3236425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3208" y="2931203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Restrictive to PDF documents (.pdf) only.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716280" y="4041097"/>
            <a:ext cx="457200" cy="457200"/>
          </a:xfrm>
          <a:prstGeom prst="ellipse">
            <a:avLst/>
          </a:prstGeom>
          <a:solidFill>
            <a:srgbClr val="8A90A6"/>
          </a:solidFill>
          <a:ln/>
        </p:spPr>
      </p:sp>
      <p:pic>
        <p:nvPicPr>
          <p:cNvPr id="9" name="Image 1" descr="./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008" y="4150825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92352" y="3926797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invoice currencies without live exchange rate conversion.</a:t>
            </a:r>
            <a:endParaRPr lang="en-US" dirty="0"/>
          </a:p>
        </p:txBody>
      </p:sp>
      <p:sp>
        <p:nvSpPr>
          <p:cNvPr id="11" name="Shape 7"/>
          <p:cNvSpPr/>
          <p:nvPr/>
        </p:nvSpPr>
        <p:spPr>
          <a:xfrm>
            <a:off x="5989320" y="1645920"/>
            <a:ext cx="562356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" name="Text 8"/>
          <p:cNvSpPr/>
          <p:nvPr/>
        </p:nvSpPr>
        <p:spPr>
          <a:xfrm>
            <a:off x="6309360" y="18745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ROADMAP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309360" y="2331720"/>
            <a:ext cx="384048" cy="384048"/>
          </a:xfrm>
          <a:prstGeom prst="ellipse">
            <a:avLst/>
          </a:prstGeom>
          <a:solidFill>
            <a:srgbClr val="3D8BFF"/>
          </a:solidFill>
          <a:ln/>
        </p:spPr>
      </p:sp>
      <p:sp>
        <p:nvSpPr>
          <p:cNvPr id="14" name="Text 10"/>
          <p:cNvSpPr/>
          <p:nvPr/>
        </p:nvSpPr>
        <p:spPr>
          <a:xfrm>
            <a:off x="6309360" y="2331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812280" y="2276856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Multi-Format Ingestion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812280" y="2578608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7C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for image formats (PNG/JPEG), Word, and EML attachments.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309360" y="3227832"/>
            <a:ext cx="384048" cy="384048"/>
          </a:xfrm>
          <a:prstGeom prst="ellipse">
            <a:avLst/>
          </a:prstGeom>
          <a:solidFill>
            <a:srgbClr val="3D8BFF"/>
          </a:solidFill>
          <a:ln/>
        </p:spPr>
      </p:sp>
      <p:sp>
        <p:nvSpPr>
          <p:cNvPr id="18" name="Text 14"/>
          <p:cNvSpPr/>
          <p:nvPr/>
        </p:nvSpPr>
        <p:spPr>
          <a:xfrm>
            <a:off x="6309360" y="32278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812280" y="317296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ERP Integration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812280" y="347472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7C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export webhooks to SAP, NetSuite, and QuickBooks.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309360" y="4123944"/>
            <a:ext cx="384048" cy="384048"/>
          </a:xfrm>
          <a:prstGeom prst="ellipse">
            <a:avLst/>
          </a:prstGeom>
          <a:solidFill>
            <a:srgbClr val="3D8BFF"/>
          </a:solidFill>
          <a:ln/>
        </p:spPr>
      </p:sp>
      <p:sp>
        <p:nvSpPr>
          <p:cNvPr id="22" name="Text 18"/>
          <p:cNvSpPr/>
          <p:nvPr/>
        </p:nvSpPr>
        <p:spPr>
          <a:xfrm>
            <a:off x="6309360" y="41239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6812280" y="40690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Fine-Tuned LLM Embeddings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6812280" y="4370832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7C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domain transformers (e.g., FinBERT) for complex financial syntax.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6309360" y="5020056"/>
            <a:ext cx="384048" cy="384048"/>
          </a:xfrm>
          <a:prstGeom prst="ellipse">
            <a:avLst/>
          </a:prstGeom>
          <a:solidFill>
            <a:srgbClr val="3D8BFF"/>
          </a:solidFill>
          <a:ln/>
        </p:spPr>
      </p:sp>
      <p:sp>
        <p:nvSpPr>
          <p:cNvPr id="26" name="Text 22"/>
          <p:cNvSpPr/>
          <p:nvPr/>
        </p:nvSpPr>
        <p:spPr>
          <a:xfrm>
            <a:off x="6309360" y="50200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6812280" y="496519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&amp; RBAC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812280" y="5175504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7C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 and role-based multi-tenant isolation.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45720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Invoice Processing &amp; Semantic Search Engine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521440" y="656539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E2761">
              <a:alpha val="55000"/>
            </a:srgb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Shape 1"/>
          <p:cNvSpPr/>
          <p:nvPr/>
        </p:nvSpPr>
        <p:spPr>
          <a:xfrm>
            <a:off x="9601200" y="-1828800"/>
            <a:ext cx="4572000" cy="4572000"/>
          </a:xfrm>
          <a:prstGeom prst="ellipse">
            <a:avLst/>
          </a:prstGeom>
          <a:solidFill>
            <a:srgbClr val="3D8BFF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Q&amp;A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502920" cy="50292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6" name="Image 0" descr=".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204825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83353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E6E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automated enterprise invoice ingestion, extraction, and semantic search.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685800" y="2788920"/>
            <a:ext cx="502920" cy="50292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9" name="Image 1" descr="./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2916936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2724912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E6E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cloud blob storage, relational databases, and vector engines into a unified platform.</a:t>
            </a:r>
            <a:endParaRPr lang="en-US" dirty="0"/>
          </a:p>
        </p:txBody>
      </p:sp>
      <p:sp>
        <p:nvSpPr>
          <p:cNvPr id="11" name="Shape 7"/>
          <p:cNvSpPr/>
          <p:nvPr/>
        </p:nvSpPr>
        <p:spPr>
          <a:xfrm>
            <a:off x="685800" y="3657600"/>
            <a:ext cx="502920" cy="502920"/>
          </a:xfrm>
          <a:prstGeom prst="ellipse">
            <a:avLst/>
          </a:prstGeom>
          <a:solidFill>
            <a:srgbClr val="3D8BFF"/>
          </a:solidFill>
          <a:ln/>
        </p:spPr>
      </p:sp>
      <p:pic>
        <p:nvPicPr>
          <p:cNvPr id="12" name="Image 2" descr="./icons/bo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3785616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3603209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E6E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modern production-ready technologies — FastAPI, React, PostgreSQL, Qdrant, Docker.</a:t>
            </a:r>
            <a:endParaRPr lang="en-US" dirty="0"/>
          </a:p>
        </p:txBody>
      </p:sp>
      <p:sp>
        <p:nvSpPr>
          <p:cNvPr id="14" name="Shape 9"/>
          <p:cNvSpPr/>
          <p:nvPr/>
        </p:nvSpPr>
        <p:spPr>
          <a:xfrm>
            <a:off x="640080" y="5029200"/>
            <a:ext cx="3657600" cy="18288"/>
          </a:xfrm>
          <a:prstGeom prst="rect">
            <a:avLst/>
          </a:prstGeom>
          <a:solidFill>
            <a:srgbClr val="3B4384"/>
          </a:solidFill>
          <a:ln/>
        </p:spPr>
      </p:sp>
      <p:sp>
        <p:nvSpPr>
          <p:cNvPr id="15" name="Text 10"/>
          <p:cNvSpPr/>
          <p:nvPr/>
        </p:nvSpPr>
        <p:spPr>
          <a:xfrm>
            <a:off x="640080" y="52578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3200" dirty="0"/>
          </a:p>
        </p:txBody>
      </p:sp>
      <p:sp>
        <p:nvSpPr>
          <p:cNvPr id="16" name="Text 11"/>
          <p:cNvSpPr/>
          <p:nvPr/>
        </p:nvSpPr>
        <p:spPr>
          <a:xfrm>
            <a:off x="640080" y="5943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45720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Invoice Processing &amp; Semantic Search Engine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521440" y="656539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864</TotalTime>
  <Words>883</Words>
  <Application>Microsoft Office PowerPoint</Application>
  <PresentationFormat>Widescreen</PresentationFormat>
  <Paragraphs>161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Tanishka Gupta</cp:lastModifiedBy>
  <cp:revision>4</cp:revision>
  <dcterms:created xsi:type="dcterms:W3CDTF">2026-08-17T21:06:59Z</dcterms:created>
  <dcterms:modified xsi:type="dcterms:W3CDTF">2026-08-18T11:34:12Z</dcterms:modified>
</cp:coreProperties>
</file>