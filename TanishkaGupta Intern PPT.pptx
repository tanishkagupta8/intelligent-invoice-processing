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6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558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783810" y="-2170207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9907892" y="-962699"/>
            <a:ext cx="3291840" cy="3291840"/>
          </a:xfrm>
          <a:prstGeom prst="ellipse">
            <a:avLst/>
          </a:prstGeom>
          <a:solidFill>
            <a:srgbClr val="3D8BFF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1456" y="937353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Invoice Processing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Semantic Search Engine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81456" y="2512151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OCR, Vector Search &amp; Cloud-Native Architecture</a:t>
            </a:r>
            <a:endParaRPr lang="en-US" sz="1600" dirty="0"/>
          </a:p>
        </p:txBody>
      </p:sp>
      <p:pic>
        <p:nvPicPr>
          <p:cNvPr id="8" name="Image 0" descr="./icons/fast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81" y="3478341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9521" y="401846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pic>
        <p:nvPicPr>
          <p:cNvPr id="10" name="Image 1" descr="./icons/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801" y="3478341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9641" y="4093639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pic>
        <p:nvPicPr>
          <p:cNvPr id="12" name="Image 2" descr="./icons/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921" y="3478337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89761" y="4022035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pic>
        <p:nvPicPr>
          <p:cNvPr id="14" name="Image 3" descr="./icons/do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7041" y="351775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749881" y="4030505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1005945" y="4541956"/>
            <a:ext cx="91439" cy="1477166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17" name="Text 11"/>
          <p:cNvSpPr/>
          <p:nvPr/>
        </p:nvSpPr>
        <p:spPr>
          <a:xfrm>
            <a:off x="1152731" y="4635505"/>
            <a:ext cx="9601200" cy="1285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Tanishka Gupta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Roll No: 23UCS722
Department of Computer Science &amp; Engineering, The LNM Institute of Information </a:t>
            </a:r>
            <a:r>
              <a:rPr lang="en-IN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Faculty Mentors:  Dr. Aniket Pal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Mentor: Mr. Kailash Gupta – Senior Manager, Accounts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Name: DCM Shriram Ltd.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Enterprise Challenge: Unstructured Invoice Ingestion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.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0253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603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Volume &amp; Heterogeneity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95351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handle thousands of invoices daily in variable formats — scanned paper, native PDFs, photo receipts.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6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.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0025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37960" y="25603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Entry Bottlenecks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95351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Transcribing invoice fields manually is labor-intensive (5–10 min/invoice) and error-prone (~4% error rate).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./icons/refre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42569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49834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Fragility of Legacy OCR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2960" y="537667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OCR breaks whenever layout structures change across vendors.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26364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7960" y="4297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.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425696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37960" y="49834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Limitations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537960" y="537667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SQL search cannot execute natural language queries like "find logistics expenses over $5k last quarter".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Decoupled GenAI Document Intelligence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28216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5" name="Image 0" descr=".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562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27632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Ingestion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74920" y="1627632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blob archiving via Azurite (Azure Blob Storage emulation).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23744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697480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0" name="Image 1" descr=".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254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596896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Layout Extraction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74920" y="2596896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Document Intelligence + fallback parsers for key-value &amp; line-item structuring.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493008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Shape 10"/>
          <p:cNvSpPr/>
          <p:nvPr/>
        </p:nvSpPr>
        <p:spPr>
          <a:xfrm>
            <a:off x="777240" y="3666744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5" name="Image 2" descr=".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9476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56616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Vector Indexing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074920" y="3566160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document context into 384-dimensional dense vectors using SentenceTransformers.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4462272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Shape 14"/>
          <p:cNvSpPr/>
          <p:nvPr/>
        </p:nvSpPr>
        <p:spPr>
          <a:xfrm>
            <a:off x="777240" y="4636008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0" name="Image 3" descr=".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76402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535424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 Capabilities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074920" y="4535424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exact SQL metadata filters with Qdrant vector similarity search.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5431536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7F8FC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605272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5" name="Image 4" descr="./icons/gr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733288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5504688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Glassmorphic User Dashboard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074920" y="5504688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frontend with live infrastructure status monitoring and instant PDF preview.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Project Objectives &amp; Capabilities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8922" y="990705"/>
            <a:ext cx="3504438" cy="173736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93242" y="1191873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3242" y="1740513"/>
            <a:ext cx="594360" cy="5943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6" name="Image 0" descr=".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" y="1886817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8730" y="1036425"/>
            <a:ext cx="25054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Data Loss Ingestion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24178" y="1617069"/>
            <a:ext cx="227464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PDF stream storage with local failover handling.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93776" y="2852928"/>
            <a:ext cx="3529584" cy="173736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3054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68096" y="3602736"/>
            <a:ext cx="594360" cy="5943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2" name="Image 1" descr=".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2436" y="2916936"/>
            <a:ext cx="2980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Field Structuring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357884" y="3525012"/>
            <a:ext cx="26746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Vendor, Invoice #, Date, Currency, Tax, Total Amount, and Line Items.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2920" y="4736592"/>
            <a:ext cx="3529584" cy="1652226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4937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777240" y="5486400"/>
            <a:ext cx="594360" cy="5943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8" name="Image 2" descr=".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63270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25296" y="4818888"/>
            <a:ext cx="2980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Semantic Search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80744" y="5367686"/>
            <a:ext cx="27477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similarity matching (e.g., "office stationery supplies").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021469" y="1007102"/>
            <a:ext cx="4147174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Shape 17"/>
          <p:cNvSpPr/>
          <p:nvPr/>
        </p:nvSpPr>
        <p:spPr>
          <a:xfrm>
            <a:off x="4222636" y="1208270"/>
            <a:ext cx="550532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3" name="Image 3" descr="./icons/ac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9796" y="1345430"/>
            <a:ext cx="275267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35868" y="1098542"/>
            <a:ext cx="4450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Infrastructure Health Monitoring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935868" y="1482590"/>
            <a:ext cx="3310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chips for FastAPI, PostgreSQL, Qdrant, and Azurite.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245997" y="1007102"/>
            <a:ext cx="3614166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IN" sz="2000" dirty="0"/>
          </a:p>
        </p:txBody>
      </p:sp>
      <p:sp>
        <p:nvSpPr>
          <p:cNvPr id="27" name="Shape 21"/>
          <p:cNvSpPr/>
          <p:nvPr/>
        </p:nvSpPr>
        <p:spPr>
          <a:xfrm>
            <a:off x="8506971" y="1208270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8" name="Image 4" descr="./icons/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4131" y="134543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20203" y="109854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Containerized Deployment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9220203" y="1482590"/>
            <a:ext cx="230123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initialization using Docker Compose</a:t>
            </a: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184308F-9060-BFDE-DD18-97937631EF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5564" y="2151364"/>
            <a:ext cx="7739292" cy="42037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Microservice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37844" y="1571665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pic>
        <p:nvPicPr>
          <p:cNvPr id="4" name="Image 0" descr="./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724" y="1845985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3644" y="1571665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899692" y="3119206"/>
            <a:ext cx="8483320" cy="219456"/>
          </a:xfrm>
          <a:prstGeom prst="rightArrow">
            <a:avLst/>
          </a:prstGeom>
          <a:solidFill>
            <a:srgbClr val="3D8BFF"/>
          </a:solidFill>
          <a:ln/>
        </p:spPr>
      </p:sp>
      <p:sp>
        <p:nvSpPr>
          <p:cNvPr id="7" name="Shape 4"/>
          <p:cNvSpPr/>
          <p:nvPr/>
        </p:nvSpPr>
        <p:spPr>
          <a:xfrm>
            <a:off x="4870441" y="1559052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pic>
        <p:nvPicPr>
          <p:cNvPr id="8" name="Image 1" descr="./icons/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220" y="183337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4140" y="1559052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000303" y="2565674"/>
            <a:ext cx="219456" cy="723325"/>
          </a:xfrm>
          <a:prstGeom prst="downArrow">
            <a:avLst/>
          </a:prstGeom>
          <a:solidFill>
            <a:srgbClr val="3D8B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Shape 7"/>
          <p:cNvSpPr/>
          <p:nvPr/>
        </p:nvSpPr>
        <p:spPr>
          <a:xfrm>
            <a:off x="717804" y="3886199"/>
            <a:ext cx="2468880" cy="137948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677924" y="4050792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3" name="Image 2" descr="./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940" y="41970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Azurite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17804" y="4919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479292" y="3886200"/>
            <a:ext cx="2468880" cy="137948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439412" y="4050792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8" name="Image 3" descr=".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428" y="41970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479292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AI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3479292" y="4919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Layout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240780" y="3886200"/>
            <a:ext cx="2468880" cy="137948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200900" y="4050792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3" name="Image 4" descr="./icons/postgresq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916" y="4197096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40780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240780" y="4919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r>
              <a:rPr lang="en-US" sz="10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002268" y="3886199"/>
            <a:ext cx="2468880" cy="1379481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9962388" y="4050792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8" name="Image 5" descr="./icons/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0404" y="4197096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02268" y="4663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9002268" y="4919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Engine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48640" y="54406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41B4D"/>
          </a:solidFill>
          <a:ln/>
        </p:spPr>
      </p:sp>
      <p:sp>
        <p:nvSpPr>
          <p:cNvPr id="32" name="Text 24"/>
          <p:cNvSpPr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Upload  ›  Azurite Archival  ›  Doc AI / OCR Parsing  ›  Relational Commit  ›  Vector Encoding  ›  Qdrant Indexing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2E439C43-3F85-83B4-9459-F0AEE9078644}"/>
              </a:ext>
            </a:extLst>
          </p:cNvPr>
          <p:cNvSpPr/>
          <p:nvPr/>
        </p:nvSpPr>
        <p:spPr>
          <a:xfrm>
            <a:off x="4640579" y="3247696"/>
            <a:ext cx="219457" cy="562198"/>
          </a:xfrm>
          <a:prstGeom prst="downArrow">
            <a:avLst/>
          </a:prstGeom>
          <a:solidFill>
            <a:srgbClr val="3D8BFF"/>
          </a:solidFill>
          <a:ln/>
        </p:spPr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15B19FAE-23D4-123A-757F-6D732F862CE4}"/>
              </a:ext>
            </a:extLst>
          </p:cNvPr>
          <p:cNvSpPr/>
          <p:nvPr/>
        </p:nvSpPr>
        <p:spPr>
          <a:xfrm>
            <a:off x="7402067" y="3250850"/>
            <a:ext cx="219457" cy="562198"/>
          </a:xfrm>
          <a:prstGeom prst="downArrow">
            <a:avLst/>
          </a:prstGeom>
          <a:solidFill>
            <a:srgbClr val="3D8BFF"/>
          </a:solidFill>
          <a:ln/>
        </p:spPr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4C8387DD-B06B-85B9-E3A1-747AAA53CFA0}"/>
              </a:ext>
            </a:extLst>
          </p:cNvPr>
          <p:cNvSpPr/>
          <p:nvPr/>
        </p:nvSpPr>
        <p:spPr>
          <a:xfrm>
            <a:off x="10126979" y="3254634"/>
            <a:ext cx="219457" cy="562198"/>
          </a:xfrm>
          <a:prstGeom prst="downArrow">
            <a:avLst/>
          </a:prstGeom>
          <a:solidFill>
            <a:srgbClr val="3D8BFF"/>
          </a:solidFill>
          <a:ln/>
        </p:spPr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A9328F51-1A7F-5875-7E97-F21AD189FB14}"/>
              </a:ext>
            </a:extLst>
          </p:cNvPr>
          <p:cNvSpPr/>
          <p:nvPr/>
        </p:nvSpPr>
        <p:spPr>
          <a:xfrm>
            <a:off x="1845564" y="3264407"/>
            <a:ext cx="219457" cy="562198"/>
          </a:xfrm>
          <a:prstGeom prst="downArrow">
            <a:avLst/>
          </a:prstGeom>
          <a:solidFill>
            <a:srgbClr val="3D8BFF"/>
          </a:solidFill>
          <a:ln/>
        </p:spPr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14D3BCBA-7C43-6556-3F59-BA7383C92509}"/>
              </a:ext>
            </a:extLst>
          </p:cNvPr>
          <p:cNvSpPr/>
          <p:nvPr/>
        </p:nvSpPr>
        <p:spPr>
          <a:xfrm rot="16200000">
            <a:off x="4060566" y="1457834"/>
            <a:ext cx="219458" cy="1162551"/>
          </a:xfrm>
          <a:prstGeom prst="downArrow">
            <a:avLst/>
          </a:prstGeom>
          <a:solidFill>
            <a:srgbClr val="3D8B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Decoupled Technology Stack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313126"/>
              </p:ext>
            </p:extLst>
          </p:nvPr>
        </p:nvGraphicFramePr>
        <p:xfrm>
          <a:off x="548640" y="1600200"/>
          <a:ext cx="11064240" cy="460857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Layer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Technologies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Backend API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3.11, FastAPI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Relational DB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 — Structured metadata &amp; audit logs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Vector DB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Vector Engine — 384-d Cosine similarity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Cloud Blob Storage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Azurite (Azure Blob Emulator)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AI Models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Document Intelligence (prebuilt-invoice) &amp; SentenceTransformers (all-MiniLM-L6-v2)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Frontend UI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18, Vite, Lucide Icons, Glassmorphic Vanilla CSS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Orchestration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&amp; Docker Compose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Data Strategy: Relational + Vector + Blob Storage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897380" y="2103120"/>
            <a:ext cx="82296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5" name="Image 0" descr=".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404" y="22951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2004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Azurite Blob Storage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raw PDF files (invoices-raw container) for compliance and auditing.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34256" y="173736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Shape 6"/>
          <p:cNvSpPr/>
          <p:nvPr/>
        </p:nvSpPr>
        <p:spPr>
          <a:xfrm>
            <a:off x="5682996" y="2103120"/>
            <a:ext cx="82296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0" name="Image 1" descr="./icons/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20" y="22951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62856" y="32004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Database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608576" y="39776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storing structured metrics — vendor_name, total_amount, invoice_date, line_items_json.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19872" y="173736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3D8B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Shape 10"/>
          <p:cNvSpPr/>
          <p:nvPr/>
        </p:nvSpPr>
        <p:spPr>
          <a:xfrm>
            <a:off x="9468612" y="2103120"/>
            <a:ext cx="82296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5" name="Image 2" descr=".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636" y="22951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48472" y="32004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 Vector DB</a:t>
            </a: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8394192" y="39776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collection invoices_vector_index holding 384-dimensional dense embeddings for natural language search.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bg2">
                <a:lumMod val="50000"/>
              </a:schemeClr>
            </a:gs>
            <a:gs pos="32000">
              <a:schemeClr val="accent1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High-End Glassmorphic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Interface — Modern Glassmorphism Design Principles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949440" y="1828800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33" name="Image 5" descr="./icons/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1947672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635240" y="16687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document upload dropzone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6949440" y="2944368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36" name="Image 6" descr="./icons/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306324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635240" y="285292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status indicators (ports 8000, 5432, 6333, 10000)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6949440" y="4059936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39" name="Image 7" descr=".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178808"/>
            <a:ext cx="274320" cy="2743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635240" y="38862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filter chips &amp; natural-language query box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6949440" y="5175504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42" name="Image 8" descr=".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12" y="5294376"/>
            <a:ext cx="274320" cy="27432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635240" y="503834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invoice list with side-by-side document preview</a:t>
            </a:r>
            <a:endParaRPr lang="en-US" sz="1400" dirty="0"/>
          </a:p>
        </p:txBody>
      </p:sp>
      <p:sp>
        <p:nvSpPr>
          <p:cNvPr id="44" name="Text 3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98503CD-278A-4660-FF3C-2F3391864E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633" y="1668780"/>
            <a:ext cx="6339946" cy="42882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Methodology &amp;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4810" y="1122663"/>
            <a:ext cx="2829910" cy="1163337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613910" y="112266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Architecture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13910" y="129845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Component-driven development with decoupled microservices.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3233" y="2628900"/>
            <a:ext cx="2831487" cy="144018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25831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Prototyping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48640" y="29718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schema design, FastAPI route setup, and container orchestration.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3232" y="4274820"/>
            <a:ext cx="2831488" cy="178308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1"/>
          <p:cNvSpPr/>
          <p:nvPr/>
        </p:nvSpPr>
        <p:spPr>
          <a:xfrm>
            <a:off x="435127" y="4229100"/>
            <a:ext cx="3139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Verification &amp; Testing</a:t>
            </a: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80847" y="4823460"/>
            <a:ext cx="304416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 of PDF stream upload, vector scoring accuracy, and database transactions.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E9E7167-BC39-CD5D-D84A-6AB8AF28E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095" y="1298450"/>
            <a:ext cx="8203082" cy="45472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2910" y="164592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708660" y="24740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CONSTRAINTS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6280" y="3126697"/>
            <a:ext cx="457200" cy="457200"/>
          </a:xfrm>
          <a:prstGeom prst="ellipse">
            <a:avLst/>
          </a:prstGeom>
          <a:solidFill>
            <a:srgbClr val="8A90A6"/>
          </a:solidFill>
          <a:ln/>
        </p:spPr>
      </p:sp>
      <p:pic>
        <p:nvPicPr>
          <p:cNvPr id="6" name="Image 0" descr=".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08" y="3236425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3208" y="2931203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Restrictive to PDF documents (.pdf) only.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16280" y="4041097"/>
            <a:ext cx="457200" cy="457200"/>
          </a:xfrm>
          <a:prstGeom prst="ellipse">
            <a:avLst/>
          </a:prstGeom>
          <a:solidFill>
            <a:srgbClr val="8A90A6"/>
          </a:solidFill>
          <a:ln/>
        </p:spPr>
      </p:sp>
      <p:pic>
        <p:nvPicPr>
          <p:cNvPr id="9" name="Image 1" descr=".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08" y="4150825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2352" y="3926797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invoice currencies without live exchange rate conversion.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989320" y="1645920"/>
            <a:ext cx="562356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8"/>
          <p:cNvSpPr/>
          <p:nvPr/>
        </p:nvSpPr>
        <p:spPr>
          <a:xfrm>
            <a:off x="630936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309360" y="2331720"/>
            <a:ext cx="384048" cy="38404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4" name="Text 10"/>
          <p:cNvSpPr/>
          <p:nvPr/>
        </p:nvSpPr>
        <p:spPr>
          <a:xfrm>
            <a:off x="630936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812280" y="22768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Multi-Format Ingestion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812280" y="25786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image formats (PNG/JPEG), Word, and EML attachments.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84169" y="3464475"/>
            <a:ext cx="384048" cy="38404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8" name="Text 14"/>
          <p:cNvSpPr/>
          <p:nvPr/>
        </p:nvSpPr>
        <p:spPr>
          <a:xfrm>
            <a:off x="6284169" y="347416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805041" y="3376737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Integration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805041" y="3675337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export webhooks to SAP, NetSuite, and QuickBooks.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30936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284169" y="4329526"/>
            <a:ext cx="384048" cy="384048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26" name="Text 22"/>
          <p:cNvSpPr/>
          <p:nvPr/>
        </p:nvSpPr>
        <p:spPr>
          <a:xfrm>
            <a:off x="6276594" y="432661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821424" y="42793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RBAC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805041" y="452155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and role-based multi-tenant isolation.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465083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3D8B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Q&amp;A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6" name="Image 0" descr=".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0482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3353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6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automated enterprise invoice ingestion, extraction, and semantic search.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85800" y="2788920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9" name="Image 1" descr=".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91693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2491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6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cloud blob storage, relational databases, and vector engines into a unified platform.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85800" y="3657600"/>
            <a:ext cx="502920" cy="50292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2" name="Image 2" descr="./icons/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78561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603209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6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modern production-ready technologies — FastAPI, React, PostgreSQL, Qdrant, Docker.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640080" y="5029200"/>
            <a:ext cx="3657600" cy="18288"/>
          </a:xfrm>
          <a:prstGeom prst="rect">
            <a:avLst/>
          </a:prstGeom>
          <a:solidFill>
            <a:srgbClr val="3B4384"/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5257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64008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Invoice Processing &amp; Semantic Search Engine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521440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1451</TotalTime>
  <Words>805</Words>
  <Application>Microsoft Office PowerPoint</Application>
  <PresentationFormat>Widescreen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Tanishka Gupta</cp:lastModifiedBy>
  <cp:revision>6</cp:revision>
  <dcterms:created xsi:type="dcterms:W3CDTF">2026-08-17T21:06:59Z</dcterms:created>
  <dcterms:modified xsi:type="dcterms:W3CDTF">2026-08-21T19:14:32Z</dcterms:modified>
</cp:coreProperties>
</file>