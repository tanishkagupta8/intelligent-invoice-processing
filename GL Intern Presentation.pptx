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01" r:id="rId4"/>
    <p:sldId id="302" r:id="rId5"/>
    <p:sldId id="284" r:id="rId6"/>
    <p:sldId id="260" r:id="rId7"/>
    <p:sldId id="261" r:id="rId8"/>
    <p:sldId id="286" r:id="rId9"/>
    <p:sldId id="287" r:id="rId10"/>
    <p:sldId id="288" r:id="rId11"/>
    <p:sldId id="289" r:id="rId12"/>
    <p:sldId id="270" r:id="rId13"/>
  </p:sldIdLst>
  <p:sldSz cx="18288000" cy="10287000"/>
  <p:notesSz cx="6858000" cy="9144000"/>
  <p:embeddedFontLst>
    <p:embeddedFont>
      <p:font typeface="Anton" pitchFamily="2" charset="0"/>
      <p:regular r:id="rId15"/>
    </p:embeddedFont>
    <p:embeddedFont>
      <p:font typeface="Glacial Indifferenc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FD65B-9F20-0805-38B0-A0B00EE02069}" v="1" dt="2026-04-19T08:42:00.756"/>
    <p1510:client id="{D72EF63F-95C1-47E3-84CE-1AEE64F465D5}" v="947" dt="2026-04-19T10:46:52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578" y="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EEC0B-6990-4238-BE1E-D9FB712CF1F3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17D22-DBED-47B2-89A2-BDE4B63E5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19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17D22-DBED-47B2-89A2-BDE4B63E5ED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190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B85BB-2143-82A5-9093-7FB411CE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BC306-FC5C-DABA-9076-B995C2748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16C21-E361-F5B9-9ACA-8E332F402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D5AD7-1A8F-E1AC-8EC8-253D66806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17D22-DBED-47B2-89A2-BDE4B63E5ED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18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54619-E996-DF87-28CF-7077A4D3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7A5A6-BC2F-7F71-414A-1A7F76914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9430F-32C3-2783-42A7-0895ED26E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B6CE-4881-BDA9-BDF4-3FA465F72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17D22-DBED-47B2-89A2-BDE4B63E5ED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963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66800" y="9170849"/>
            <a:ext cx="7315200" cy="994867"/>
          </a:xfrm>
          <a:custGeom>
            <a:avLst/>
            <a:gdLst/>
            <a:ahLst/>
            <a:cxnLst/>
            <a:rect l="l" t="t" r="r" b="b"/>
            <a:pathLst>
              <a:path w="7315200" h="994867">
                <a:moveTo>
                  <a:pt x="0" y="0"/>
                </a:moveTo>
                <a:lnTo>
                  <a:pt x="7315200" y="0"/>
                </a:lnTo>
                <a:lnTo>
                  <a:pt x="7315200" y="994867"/>
                </a:lnTo>
                <a:lnTo>
                  <a:pt x="0" y="994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66800" y="1122296"/>
            <a:ext cx="12208474" cy="5347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IN" sz="8000" dirty="0">
                <a:solidFill>
                  <a:srgbClr val="2D5986"/>
                </a:solidFill>
                <a:latin typeface="Anton"/>
              </a:rPr>
              <a:t>AI-Powered IT Helpdesk and Intelligent Support Management System</a:t>
            </a:r>
            <a:endParaRPr lang="en-US" sz="8000" dirty="0">
              <a:solidFill>
                <a:srgbClr val="2D5986"/>
              </a:solidFill>
              <a:latin typeface="Anton"/>
              <a:sym typeface="Anto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19200" y="7277100"/>
            <a:ext cx="10368870" cy="146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Arnav Kumar</a:t>
            </a:r>
          </a:p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Organization : GlobalLogic</a:t>
            </a:r>
          </a:p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Mentor  :  Poonam Gera Ma’am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89CF1F-6418-AEBD-3EF5-3F6C95054F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474972"/>
            <a:ext cx="13982700" cy="1346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Problem Statement &amp; Motivation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2344400" y="2877847"/>
            <a:ext cx="819053" cy="819053"/>
          </a:xfrm>
          <a:custGeom>
            <a:avLst/>
            <a:gdLst/>
            <a:ahLst/>
            <a:cxnLst/>
            <a:rect l="l" t="t" r="r" b="b"/>
            <a:pathLst>
              <a:path w="819053" h="819053">
                <a:moveTo>
                  <a:pt x="0" y="0"/>
                </a:moveTo>
                <a:lnTo>
                  <a:pt x="819053" y="0"/>
                </a:lnTo>
                <a:lnTo>
                  <a:pt x="819053" y="819052"/>
                </a:lnTo>
                <a:lnTo>
                  <a:pt x="0" y="8190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34275" y="8881878"/>
            <a:ext cx="1091175" cy="1091175"/>
          </a:xfrm>
          <a:custGeom>
            <a:avLst/>
            <a:gdLst/>
            <a:ahLst/>
            <a:cxnLst/>
            <a:rect l="l" t="t" r="r" b="b"/>
            <a:pathLst>
              <a:path w="1091175" h="1091175">
                <a:moveTo>
                  <a:pt x="0" y="0"/>
                </a:moveTo>
                <a:lnTo>
                  <a:pt x="1091174" y="0"/>
                </a:lnTo>
                <a:lnTo>
                  <a:pt x="1091174" y="1091175"/>
                </a:lnTo>
                <a:lnTo>
                  <a:pt x="0" y="109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2528905" y="3696275"/>
            <a:ext cx="5488766" cy="5731191"/>
          </a:xfrm>
          <a:custGeom>
            <a:avLst/>
            <a:gdLst/>
            <a:ahLst/>
            <a:cxnLst/>
            <a:rect l="l" t="t" r="r" b="b"/>
            <a:pathLst>
              <a:path w="5488766" h="5731191">
                <a:moveTo>
                  <a:pt x="0" y="0"/>
                </a:moveTo>
                <a:lnTo>
                  <a:pt x="5488766" y="0"/>
                </a:lnTo>
                <a:lnTo>
                  <a:pt x="5488766" y="5731191"/>
                </a:lnTo>
                <a:lnTo>
                  <a:pt x="0" y="5731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3493694"/>
            <a:ext cx="10961441" cy="5049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Employees face hardware, software, network, and account-access issues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Informal/manual complaint tracking is hard to prioritize and resolve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Solution: centralized helpdesk with structured ticketing + AI chatbot for first-level support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AI reduces repetitive queries; unresolved issues escalate to human agents</a:t>
            </a:r>
            <a:endParaRPr lang="en-US" sz="2800" dirty="0">
              <a:solidFill>
                <a:srgbClr val="2D5986"/>
              </a:solidFill>
              <a:ea typeface="+mn-lt"/>
              <a:cs typeface="+mn-lt"/>
              <a:sym typeface="Glacial Indifference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6E3D04-9DF0-A496-65F4-3E2936D37C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2360B-6A33-F906-21E5-DA2DB737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8EBEC2B-A2E7-D1B2-2FBE-AA0ABCC8DDA2}"/>
              </a:ext>
            </a:extLst>
          </p:cNvPr>
          <p:cNvSpPr txBox="1"/>
          <p:nvPr/>
        </p:nvSpPr>
        <p:spPr>
          <a:xfrm>
            <a:off x="1028700" y="1474972"/>
            <a:ext cx="13982700" cy="1346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Project Objectives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089E9D3-ECD1-0866-35DF-59EFB2186F5C}"/>
              </a:ext>
            </a:extLst>
          </p:cNvPr>
          <p:cNvSpPr/>
          <p:nvPr/>
        </p:nvSpPr>
        <p:spPr>
          <a:xfrm>
            <a:off x="12344400" y="2877847"/>
            <a:ext cx="819053" cy="819053"/>
          </a:xfrm>
          <a:custGeom>
            <a:avLst/>
            <a:gdLst/>
            <a:ahLst/>
            <a:cxnLst/>
            <a:rect l="l" t="t" r="r" b="b"/>
            <a:pathLst>
              <a:path w="819053" h="819053">
                <a:moveTo>
                  <a:pt x="0" y="0"/>
                </a:moveTo>
                <a:lnTo>
                  <a:pt x="819053" y="0"/>
                </a:lnTo>
                <a:lnTo>
                  <a:pt x="819053" y="819052"/>
                </a:lnTo>
                <a:lnTo>
                  <a:pt x="0" y="8190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DA5B405-1D89-5C0E-6E63-971FB9377342}"/>
              </a:ext>
            </a:extLst>
          </p:cNvPr>
          <p:cNvSpPr/>
          <p:nvPr/>
        </p:nvSpPr>
        <p:spPr>
          <a:xfrm>
            <a:off x="234275" y="8881878"/>
            <a:ext cx="1091175" cy="1091175"/>
          </a:xfrm>
          <a:custGeom>
            <a:avLst/>
            <a:gdLst/>
            <a:ahLst/>
            <a:cxnLst/>
            <a:rect l="l" t="t" r="r" b="b"/>
            <a:pathLst>
              <a:path w="1091175" h="1091175">
                <a:moveTo>
                  <a:pt x="0" y="0"/>
                </a:moveTo>
                <a:lnTo>
                  <a:pt x="1091174" y="0"/>
                </a:lnTo>
                <a:lnTo>
                  <a:pt x="1091174" y="1091175"/>
                </a:lnTo>
                <a:lnTo>
                  <a:pt x="0" y="1091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197EDA9-5291-E40F-6AFB-B1DFABAE1AE7}"/>
              </a:ext>
            </a:extLst>
          </p:cNvPr>
          <p:cNvSpPr txBox="1"/>
          <p:nvPr/>
        </p:nvSpPr>
        <p:spPr>
          <a:xfrm>
            <a:off x="1419830" y="3481742"/>
            <a:ext cx="10961441" cy="4739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Build a full-stack IT helpdesk application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Implement JWT authentication and RBAC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Create complete ticket lifecycle management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Implement department-based ticket routing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Provide role-specific dashboards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Integrate Google Gemini for first-level IT support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Use a Knowledge Base to ground AI responses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Implement an Approved Software Registry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Provide email-based onboarding and password recovery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Support authorized Excel ticket export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Deploy the complete system using Docker Compose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AC6D87-1353-964F-1D2D-1CF44340FB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45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45A2-65AC-9091-7729-5639277D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EBA66D13-4FA2-796D-8414-893D7D310C6C}"/>
              </a:ext>
            </a:extLst>
          </p:cNvPr>
          <p:cNvSpPr txBox="1"/>
          <p:nvPr/>
        </p:nvSpPr>
        <p:spPr>
          <a:xfrm>
            <a:off x="2106485" y="495300"/>
            <a:ext cx="14075027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20"/>
              </a:lnSpc>
            </a:pPr>
            <a:r>
              <a:rPr lang="en-US" sz="80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Technology Stack</a:t>
            </a:r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572F799D-A6B0-08D5-C8DA-B03ED98407DA}"/>
              </a:ext>
            </a:extLst>
          </p:cNvPr>
          <p:cNvSpPr/>
          <p:nvPr/>
        </p:nvSpPr>
        <p:spPr>
          <a:xfrm flipH="1" flipV="1">
            <a:off x="14639102" y="6792774"/>
            <a:ext cx="3485255" cy="335664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13">
            <a:extLst>
              <a:ext uri="{FF2B5EF4-FFF2-40B4-BE49-F238E27FC236}">
                <a16:creationId xmlns:a16="http://schemas.microsoft.com/office/drawing/2014/main" id="{351B8630-EA63-3C95-EE62-ECE7BB87B9B6}"/>
              </a:ext>
            </a:extLst>
          </p:cNvPr>
          <p:cNvSpPr/>
          <p:nvPr/>
        </p:nvSpPr>
        <p:spPr>
          <a:xfrm flipV="1">
            <a:off x="152400" y="6792774"/>
            <a:ext cx="3485255" cy="335664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B71F3F0-1705-7CF9-0893-4446D22785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A5E2C1-910E-37D6-52FA-7B694FB06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037946"/>
              </p:ext>
            </p:extLst>
          </p:nvPr>
        </p:nvGraphicFramePr>
        <p:xfrm>
          <a:off x="2438400" y="2171700"/>
          <a:ext cx="12954000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Layer</a:t>
                      </a:r>
                    </a:p>
                  </a:txBody>
                  <a:tcPr marL="137160" marR="13716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600" dirty="0">
                          <a:latin typeface="+mn-lt"/>
                        </a:rPr>
                        <a:t>Technologies</a:t>
                      </a:r>
                    </a:p>
                  </a:txBody>
                  <a:tcPr marL="137160" marR="13716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Frontend</a:t>
                      </a:r>
                    </a:p>
                  </a:txBody>
                  <a:tcPr marL="137160" marR="13716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React 18, Vite, React Router, Axios</a:t>
                      </a:r>
                    </a:p>
                  </a:txBody>
                  <a:tcPr marL="137160" marR="13716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Backend</a:t>
                      </a:r>
                    </a:p>
                  </a:txBody>
                  <a:tcPr marL="137160" marR="13716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Python 3.11, FastAPI, Uvicorn, Pydantic</a:t>
                      </a:r>
                    </a:p>
                  </a:txBody>
                  <a:tcPr marL="137160" marR="137160" marT="27432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Relational Database</a:t>
                      </a:r>
                    </a:p>
                  </a:txBody>
                  <a:tcPr marL="137160" marR="13716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 dirty="0">
                          <a:latin typeface="+mn-lt"/>
                        </a:rPr>
                        <a:t>Microsoft SQL Server, </a:t>
                      </a:r>
                      <a:r>
                        <a:rPr sz="2600" dirty="0" err="1">
                          <a:latin typeface="+mn-lt"/>
                        </a:rPr>
                        <a:t>SQLAlchemy</a:t>
                      </a:r>
                      <a:r>
                        <a:rPr sz="2600" dirty="0">
                          <a:latin typeface="+mn-lt"/>
                        </a:rPr>
                        <a:t>, Alembic</a:t>
                      </a:r>
                    </a:p>
                  </a:txBody>
                  <a:tcPr marL="137160" marR="13716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Document Database</a:t>
                      </a:r>
                    </a:p>
                  </a:txBody>
                  <a:tcPr marL="137160" marR="13716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MongoDB, PyMongo</a:t>
                      </a:r>
                    </a:p>
                  </a:txBody>
                  <a:tcPr marL="137160" marR="137160" marT="27432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AI</a:t>
                      </a:r>
                    </a:p>
                  </a:txBody>
                  <a:tcPr marL="137160" marR="13716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 dirty="0">
                          <a:latin typeface="+mn-lt"/>
                        </a:rPr>
                        <a:t>Google Gemini </a:t>
                      </a:r>
                    </a:p>
                  </a:txBody>
                  <a:tcPr marL="137160" marR="13716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Security</a:t>
                      </a:r>
                    </a:p>
                  </a:txBody>
                  <a:tcPr marL="137160" marR="13716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 dirty="0">
                          <a:latin typeface="+mn-lt"/>
                        </a:rPr>
                        <a:t>JWT, python-</a:t>
                      </a:r>
                      <a:r>
                        <a:rPr sz="2600" dirty="0" err="1">
                          <a:latin typeface="+mn-lt"/>
                        </a:rPr>
                        <a:t>jose</a:t>
                      </a:r>
                      <a:r>
                        <a:rPr sz="2600" dirty="0">
                          <a:latin typeface="+mn-lt"/>
                        </a:rPr>
                        <a:t>, </a:t>
                      </a:r>
                      <a:r>
                        <a:rPr sz="2600" dirty="0" err="1">
                          <a:latin typeface="+mn-lt"/>
                        </a:rPr>
                        <a:t>bcrypt</a:t>
                      </a:r>
                      <a:endParaRPr sz="2600" dirty="0">
                        <a:latin typeface="+mn-lt"/>
                      </a:endParaRPr>
                    </a:p>
                  </a:txBody>
                  <a:tcPr marL="137160" marR="137160" marT="27432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Reporting</a:t>
                      </a:r>
                    </a:p>
                  </a:txBody>
                  <a:tcPr marL="137160" marR="13716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openpyxl</a:t>
                      </a:r>
                    </a:p>
                  </a:txBody>
                  <a:tcPr marL="137160" marR="13716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>
                          <a:latin typeface="+mn-lt"/>
                        </a:rPr>
                        <a:t>Infrastructure</a:t>
                      </a:r>
                    </a:p>
                  </a:txBody>
                  <a:tcPr marL="137160" marR="137160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 dirty="0">
                          <a:latin typeface="+mn-lt"/>
                        </a:rPr>
                        <a:t>Docker Compose, Nginx</a:t>
                      </a:r>
                    </a:p>
                  </a:txBody>
                  <a:tcPr marL="137160" marR="137160" marT="27432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831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01804-B90E-5D67-FAA8-BE35A9A0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8">
            <a:extLst>
              <a:ext uri="{FF2B5EF4-FFF2-40B4-BE49-F238E27FC236}">
                <a16:creationId xmlns:a16="http://schemas.microsoft.com/office/drawing/2014/main" id="{E0866339-9F98-0BA5-B28F-877E8E9BB914}"/>
              </a:ext>
            </a:extLst>
          </p:cNvPr>
          <p:cNvSpPr txBox="1"/>
          <p:nvPr/>
        </p:nvSpPr>
        <p:spPr>
          <a:xfrm>
            <a:off x="914400" y="588090"/>
            <a:ext cx="11910300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System Architecture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BFF99E-E1A6-D56A-C109-0EA905191D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E161AF-2FF4-9CB0-680C-DB450E4C8907}"/>
              </a:ext>
            </a:extLst>
          </p:cNvPr>
          <p:cNvSpPr txBox="1"/>
          <p:nvPr/>
        </p:nvSpPr>
        <p:spPr>
          <a:xfrm>
            <a:off x="914400" y="3285220"/>
            <a:ext cx="9372601" cy="3326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Layered architecture: Browser (React) → </a:t>
            </a:r>
            <a:r>
              <a:rPr lang="en-IN" sz="2800" dirty="0" err="1">
                <a:solidFill>
                  <a:srgbClr val="2D5986"/>
                </a:solidFill>
                <a:ea typeface="+mn-lt"/>
                <a:cs typeface="+mn-lt"/>
              </a:rPr>
              <a:t>FastAPI</a:t>
            </a: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 (Routes → Services → Repositories) → SQL Server / MongoDB</a:t>
            </a:r>
          </a:p>
          <a:p>
            <a:pPr algn="just">
              <a:lnSpc>
                <a:spcPct val="200000"/>
              </a:lnSpc>
            </a:pPr>
            <a:endParaRPr lang="en-IN" sz="2800" dirty="0">
              <a:solidFill>
                <a:srgbClr val="2D5986"/>
              </a:solidFill>
              <a:ea typeface="+mn-lt"/>
              <a:cs typeface="+mn-lt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2D5986"/>
                </a:solidFill>
                <a:ea typeface="+mn-lt"/>
                <a:cs typeface="+mn-lt"/>
              </a:rPr>
              <a:t>AI Service calls Google Gemini separately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6B8A50-AD86-E59A-DD31-F940FE4BA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2733954"/>
            <a:ext cx="9960077" cy="66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6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13457066" y="8523303"/>
            <a:ext cx="4407982" cy="1407455"/>
          </a:xfrm>
          <a:custGeom>
            <a:avLst/>
            <a:gdLst/>
            <a:ahLst/>
            <a:cxnLst/>
            <a:rect l="l" t="t" r="r" b="b"/>
            <a:pathLst>
              <a:path w="4407982" h="1407455">
                <a:moveTo>
                  <a:pt x="0" y="0"/>
                </a:moveTo>
                <a:lnTo>
                  <a:pt x="4407981" y="0"/>
                </a:lnTo>
                <a:lnTo>
                  <a:pt x="4407981" y="1407455"/>
                </a:lnTo>
                <a:lnTo>
                  <a:pt x="0" y="1407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990600" y="922202"/>
            <a:ext cx="13702364" cy="1329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75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Role Based Access Control (RBAC)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739A7B8-4AA0-5F1D-1243-3BC5652DE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9E800127-282B-EC88-61B3-417165335D51}"/>
              </a:ext>
            </a:extLst>
          </p:cNvPr>
          <p:cNvSpPr txBox="1"/>
          <p:nvPr/>
        </p:nvSpPr>
        <p:spPr>
          <a:xfrm>
            <a:off x="969988" y="2628900"/>
            <a:ext cx="7233378" cy="482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Administrator</a:t>
            </a:r>
            <a:endParaRPr lang="en-US" sz="3100" dirty="0">
              <a:solidFill>
                <a:srgbClr val="2D5986"/>
              </a:solidFill>
              <a:latin typeface="Glacial Indifference"/>
              <a:sym typeface="Glacial Indifferenc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A2D8E-C38F-7599-AAAA-70E8D49F3AB6}"/>
              </a:ext>
            </a:extLst>
          </p:cNvPr>
          <p:cNvSpPr txBox="1"/>
          <p:nvPr/>
        </p:nvSpPr>
        <p:spPr>
          <a:xfrm>
            <a:off x="962491" y="5518529"/>
            <a:ext cx="7671216" cy="482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IT Manager</a:t>
            </a:r>
            <a:endParaRPr lang="en-US" sz="3100" dirty="0">
              <a:solidFill>
                <a:srgbClr val="2D5986"/>
              </a:solidFill>
              <a:latin typeface="Glacial Indifference"/>
              <a:sym typeface="Glacial Indifference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4B9537E-4FB7-2735-4932-C6B5879C693E}"/>
              </a:ext>
            </a:extLst>
          </p:cNvPr>
          <p:cNvSpPr txBox="1"/>
          <p:nvPr/>
        </p:nvSpPr>
        <p:spPr>
          <a:xfrm>
            <a:off x="1533368" y="3226464"/>
            <a:ext cx="7233378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Manage users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Manage roles/departments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Maintain software registry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Monitor system health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02CEFD38-8285-2CCB-605C-0FC1CC4B0A09}"/>
              </a:ext>
            </a:extLst>
          </p:cNvPr>
          <p:cNvSpPr txBox="1"/>
          <p:nvPr/>
        </p:nvSpPr>
        <p:spPr>
          <a:xfrm>
            <a:off x="1400328" y="6116093"/>
            <a:ext cx="723337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Organization-wide ticket oversight 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F91A20E9-FFF6-B28A-8FDE-9648FEE748FB}"/>
              </a:ext>
            </a:extLst>
          </p:cNvPr>
          <p:cNvSpPr txBox="1"/>
          <p:nvPr/>
        </p:nvSpPr>
        <p:spPr>
          <a:xfrm>
            <a:off x="9851038" y="2722987"/>
            <a:ext cx="7233378" cy="482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IT Agent</a:t>
            </a:r>
            <a:endParaRPr lang="en-US" sz="3100" dirty="0">
              <a:solidFill>
                <a:srgbClr val="2D5986"/>
              </a:solidFill>
              <a:latin typeface="Glacial Indifference"/>
              <a:sym typeface="Glacial Indifferenc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172002-D5A7-7544-237F-71C5AAA05A7A}"/>
              </a:ext>
            </a:extLst>
          </p:cNvPr>
          <p:cNvSpPr txBox="1"/>
          <p:nvPr/>
        </p:nvSpPr>
        <p:spPr>
          <a:xfrm>
            <a:off x="9851038" y="5633910"/>
            <a:ext cx="7671216" cy="482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End User : </a:t>
            </a:r>
            <a:endParaRPr lang="en-US" sz="3100" dirty="0">
              <a:solidFill>
                <a:srgbClr val="2D5986"/>
              </a:solidFill>
              <a:latin typeface="Glacial Indifference"/>
              <a:sym typeface="Glacial Indifference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A5ACD199-A5AA-B04B-1630-A3910A3A5D51}"/>
              </a:ext>
            </a:extLst>
          </p:cNvPr>
          <p:cNvSpPr txBox="1"/>
          <p:nvPr/>
        </p:nvSpPr>
        <p:spPr>
          <a:xfrm>
            <a:off x="10414418" y="3320551"/>
            <a:ext cx="7233378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9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Handles tickets assigned to their department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374E7AF1-64B1-86B0-1ACE-E22834D9B96C}"/>
              </a:ext>
            </a:extLst>
          </p:cNvPr>
          <p:cNvSpPr txBox="1"/>
          <p:nvPr/>
        </p:nvSpPr>
        <p:spPr>
          <a:xfrm>
            <a:off x="10288875" y="6231474"/>
            <a:ext cx="7233378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Create and view their own tickets</a:t>
            </a:r>
          </a:p>
          <a:p>
            <a:pPr marL="342900" indent="-3429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Use self service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14400" y="356242"/>
            <a:ext cx="12191375" cy="1371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Ticket Creation Workflow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C713D5-17B0-BE18-2449-6429092080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BEDCA4-DC77-5F03-B7BA-DF9764988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09407"/>
            <a:ext cx="5685621" cy="85284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2F0BB-5B62-55A9-7966-A5F83D49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886555E-69FB-8828-9D26-C9EBF8442A46}"/>
              </a:ext>
            </a:extLst>
          </p:cNvPr>
          <p:cNvSpPr txBox="1"/>
          <p:nvPr/>
        </p:nvSpPr>
        <p:spPr>
          <a:xfrm>
            <a:off x="914400" y="813886"/>
            <a:ext cx="10591175" cy="1346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Role Specific 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C047DC-E015-7258-2CDF-567D0DC4B2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803A0C25-211B-0670-0FD5-97B4E4DAF915}"/>
              </a:ext>
            </a:extLst>
          </p:cNvPr>
          <p:cNvSpPr/>
          <p:nvPr/>
        </p:nvSpPr>
        <p:spPr>
          <a:xfrm>
            <a:off x="533400" y="9128740"/>
            <a:ext cx="5151215" cy="768530"/>
          </a:xfrm>
          <a:custGeom>
            <a:avLst/>
            <a:gdLst/>
            <a:ahLst/>
            <a:cxnLst/>
            <a:rect l="l" t="t" r="r" b="b"/>
            <a:pathLst>
              <a:path w="7315200" h="994867">
                <a:moveTo>
                  <a:pt x="0" y="0"/>
                </a:moveTo>
                <a:lnTo>
                  <a:pt x="7315200" y="0"/>
                </a:lnTo>
                <a:lnTo>
                  <a:pt x="7315200" y="994867"/>
                </a:lnTo>
                <a:lnTo>
                  <a:pt x="0" y="994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DD9252-D4AA-AAD0-5C3A-9A24C214A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172366"/>
              </p:ext>
            </p:extLst>
          </p:nvPr>
        </p:nvGraphicFramePr>
        <p:xfrm>
          <a:off x="3109007" y="2628900"/>
          <a:ext cx="12115800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5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9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252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600"/>
                        <a:t>Role</a:t>
                      </a:r>
                    </a:p>
                  </a:txBody>
                  <a:tcPr marL="182880" marR="18288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600" dirty="0"/>
                        <a:t>Dashboard Focus</a:t>
                      </a:r>
                    </a:p>
                  </a:txBody>
                  <a:tcPr marL="182880" marR="18288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/>
                        <a:t>Administrator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/>
                        <a:t>System administration &amp; health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/>
                        <a:t>IT Manager</a:t>
                      </a:r>
                    </a:p>
                  </a:txBody>
                  <a:tcPr marL="182880" marR="18288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/>
                        <a:t>Overall ticket workload</a:t>
                      </a:r>
                    </a:p>
                  </a:txBody>
                  <a:tcPr marL="182880" marR="18288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/>
                        <a:t>IT Agent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/>
                        <a:t>Department-specific workload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/>
                        <a:t>End User</a:t>
                      </a:r>
                    </a:p>
                  </a:txBody>
                  <a:tcPr marL="182880" marR="18288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2600" dirty="0"/>
                        <a:t>Own tickets &amp; activity</a:t>
                      </a:r>
                    </a:p>
                  </a:txBody>
                  <a:tcPr marL="182880" marR="18288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71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7C181-4B99-F2C0-4C4D-7433D340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88D86EC9-CB23-0085-47AF-C64B2F66F05D}"/>
              </a:ext>
            </a:extLst>
          </p:cNvPr>
          <p:cNvSpPr txBox="1"/>
          <p:nvPr/>
        </p:nvSpPr>
        <p:spPr>
          <a:xfrm>
            <a:off x="969989" y="593475"/>
            <a:ext cx="13100778" cy="1346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75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AI Assistant and Knowledge 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FE26FD-A59E-637A-0A29-02BF54B74D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EDD9579C-01E2-123C-75D6-9E9F91872229}"/>
              </a:ext>
            </a:extLst>
          </p:cNvPr>
          <p:cNvSpPr txBox="1"/>
          <p:nvPr/>
        </p:nvSpPr>
        <p:spPr>
          <a:xfrm>
            <a:off x="1280652" y="2628900"/>
            <a:ext cx="7233378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Google Gemini for first-level problem solving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Conversation history stored in MongoDB (context-aware follow-ups)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05DD83-E97D-2933-83C4-7C466DE44B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5014445"/>
            <a:ext cx="15316200" cy="527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0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12E61-B0FE-7E37-0F18-9E94BCED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92B460B-E21E-4111-83D6-6187A684ECDE}"/>
              </a:ext>
            </a:extLst>
          </p:cNvPr>
          <p:cNvSpPr txBox="1"/>
          <p:nvPr/>
        </p:nvSpPr>
        <p:spPr>
          <a:xfrm>
            <a:off x="969989" y="593475"/>
            <a:ext cx="13100778" cy="1346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75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Software Authorization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FCC245-34B4-F141-6CC7-C069DCD577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1B89ACF8-AEDA-1244-3E21-C9E36775F9ED}"/>
              </a:ext>
            </a:extLst>
          </p:cNvPr>
          <p:cNvSpPr txBox="1"/>
          <p:nvPr/>
        </p:nvSpPr>
        <p:spPr>
          <a:xfrm>
            <a:off x="969989" y="2454968"/>
            <a:ext cx="7233378" cy="482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3100" b="1" dirty="0">
                <a:solidFill>
                  <a:srgbClr val="2D5986"/>
                </a:solidFill>
                <a:latin typeface="Glacial Indifference"/>
              </a:rPr>
              <a:t>Approved software registry </a:t>
            </a:r>
            <a:endParaRPr lang="en-US" sz="3100" b="1" dirty="0">
              <a:solidFill>
                <a:srgbClr val="2D5986"/>
              </a:solidFill>
              <a:latin typeface="Glacial Indifference"/>
              <a:sym typeface="Glacial Indifference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A5C4999B-6426-E212-1576-B7175FC8FF2A}"/>
              </a:ext>
            </a:extLst>
          </p:cNvPr>
          <p:cNvSpPr txBox="1"/>
          <p:nvPr/>
        </p:nvSpPr>
        <p:spPr>
          <a:xfrm>
            <a:off x="1427189" y="3041767"/>
            <a:ext cx="7233378" cy="1982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9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One of the key features of the project is controlling software download recommendations through a company-approved registry.</a:t>
            </a:r>
            <a:endParaRPr lang="en-US" sz="3100" dirty="0">
              <a:solidFill>
                <a:srgbClr val="2D5986"/>
              </a:solidFill>
              <a:latin typeface="Glacial Indifference"/>
              <a:sym typeface="Glacial Indifference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B2DA0A10-3906-437C-52F4-EDF9B54958C4}"/>
              </a:ext>
            </a:extLst>
          </p:cNvPr>
          <p:cNvSpPr txBox="1"/>
          <p:nvPr/>
        </p:nvSpPr>
        <p:spPr>
          <a:xfrm>
            <a:off x="1444678" y="6565076"/>
            <a:ext cx="9179505" cy="954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An AI model should not decide whether software is approved by the organization.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13389F-4E41-A5C3-2565-4469A5333412}"/>
              </a:ext>
            </a:extLst>
          </p:cNvPr>
          <p:cNvSpPr txBox="1"/>
          <p:nvPr/>
        </p:nvSpPr>
        <p:spPr>
          <a:xfrm>
            <a:off x="969989" y="6021644"/>
            <a:ext cx="7233378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3100" b="1" dirty="0">
                <a:solidFill>
                  <a:srgbClr val="2D5986"/>
                </a:solidFill>
                <a:latin typeface="Glacial Indifference"/>
              </a:rPr>
              <a:t>The Problem</a:t>
            </a:r>
            <a:endParaRPr lang="en-US" sz="3100" b="1" dirty="0">
              <a:solidFill>
                <a:srgbClr val="2D5986"/>
              </a:solidFill>
              <a:latin typeface="Glacial Indifference"/>
              <a:sym typeface="Glacial Indifferenc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9FBED1-4AF1-190A-8957-1CD02C3B01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799" y="2376630"/>
            <a:ext cx="9179505" cy="6119670"/>
          </a:xfrm>
          <a:prstGeom prst="rect">
            <a:avLst/>
          </a:prstGeom>
        </p:spPr>
      </p:pic>
      <p:sp>
        <p:nvSpPr>
          <p:cNvPr id="8" name="Freeform 16">
            <a:extLst>
              <a:ext uri="{FF2B5EF4-FFF2-40B4-BE49-F238E27FC236}">
                <a16:creationId xmlns:a16="http://schemas.microsoft.com/office/drawing/2014/main" id="{50BD5763-F6F3-B782-B7EE-9ED1B4170154}"/>
              </a:ext>
            </a:extLst>
          </p:cNvPr>
          <p:cNvSpPr/>
          <p:nvPr/>
        </p:nvSpPr>
        <p:spPr>
          <a:xfrm>
            <a:off x="533400" y="9128740"/>
            <a:ext cx="5151215" cy="768530"/>
          </a:xfrm>
          <a:custGeom>
            <a:avLst/>
            <a:gdLst/>
            <a:ahLst/>
            <a:cxnLst/>
            <a:rect l="l" t="t" r="r" b="b"/>
            <a:pathLst>
              <a:path w="7315200" h="994867">
                <a:moveTo>
                  <a:pt x="0" y="0"/>
                </a:moveTo>
                <a:lnTo>
                  <a:pt x="7315200" y="0"/>
                </a:lnTo>
                <a:lnTo>
                  <a:pt x="7315200" y="994867"/>
                </a:lnTo>
                <a:lnTo>
                  <a:pt x="0" y="994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82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F49A6-AAA3-A88C-F380-3557B6F6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59823BF-98BE-8347-3974-EC7152112CD4}"/>
              </a:ext>
            </a:extLst>
          </p:cNvPr>
          <p:cNvSpPr txBox="1"/>
          <p:nvPr/>
        </p:nvSpPr>
        <p:spPr>
          <a:xfrm>
            <a:off x="969988" y="593475"/>
            <a:ext cx="15489211" cy="1329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70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Administration, Reporting &amp; Deployment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9B818D-8A2C-4805-A697-8F57513D1D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694E4E1E-248E-32F5-605B-185B54AEE022}"/>
              </a:ext>
            </a:extLst>
          </p:cNvPr>
          <p:cNvSpPr txBox="1"/>
          <p:nvPr/>
        </p:nvSpPr>
        <p:spPr>
          <a:xfrm>
            <a:off x="969989" y="2038387"/>
            <a:ext cx="7233378" cy="482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rgbClr val="2D5986"/>
                </a:solidFill>
                <a:latin typeface="Glacial Indifference"/>
              </a:rPr>
              <a:t>Administrators can : </a:t>
            </a:r>
            <a:endParaRPr lang="en-US" sz="3100" dirty="0">
              <a:solidFill>
                <a:srgbClr val="2D5986"/>
              </a:solidFill>
              <a:latin typeface="Glacial Indifference"/>
              <a:sym typeface="Glacial Indifference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A416B83-A609-CA1E-D45E-75FCE00170D9}"/>
              </a:ext>
            </a:extLst>
          </p:cNvPr>
          <p:cNvSpPr txBox="1"/>
          <p:nvPr/>
        </p:nvSpPr>
        <p:spPr>
          <a:xfrm>
            <a:off x="1481215" y="2774712"/>
            <a:ext cx="7233378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Create/manage user accounts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Assign roles and departments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Activate/deactivate accounts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Maintain Approved Software Registry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rgbClr val="2D5986"/>
                </a:solidFill>
                <a:latin typeface="Glacial Indifference"/>
              </a:rPr>
              <a:t>Monitor database/service health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574F3-95AF-2604-DF63-54C984E9B375}"/>
              </a:ext>
            </a:extLst>
          </p:cNvPr>
          <p:cNvSpPr txBox="1"/>
          <p:nvPr/>
        </p:nvSpPr>
        <p:spPr>
          <a:xfrm>
            <a:off x="1219200" y="7272998"/>
            <a:ext cx="880578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300" dirty="0"/>
              <a:t>Docker Compose</a:t>
            </a:r>
          </a:p>
          <a:p>
            <a:r>
              <a:rPr lang="en-IN" sz="2300" dirty="0"/>
              <a:t>│</a:t>
            </a:r>
          </a:p>
          <a:p>
            <a:r>
              <a:rPr lang="en-IN" sz="2300" dirty="0"/>
              <a:t>├── Frontend / Nginx → 3000</a:t>
            </a:r>
          </a:p>
          <a:p>
            <a:r>
              <a:rPr lang="en-IN" sz="2300" dirty="0"/>
              <a:t>├── </a:t>
            </a:r>
            <a:r>
              <a:rPr lang="en-IN" sz="2300" dirty="0" err="1"/>
              <a:t>FastAPI</a:t>
            </a:r>
            <a:r>
              <a:rPr lang="en-IN" sz="2300" dirty="0"/>
              <a:t> Backend  → 8000</a:t>
            </a:r>
          </a:p>
          <a:p>
            <a:r>
              <a:rPr lang="en-IN" sz="2300" dirty="0"/>
              <a:t>├── SQL Server       → 1433</a:t>
            </a:r>
          </a:p>
          <a:p>
            <a:r>
              <a:rPr lang="en-IN" sz="2300" dirty="0"/>
              <a:t>└── MongoDB          → 27017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E855342A-4490-D34F-8C05-A101E10C1014}"/>
              </a:ext>
            </a:extLst>
          </p:cNvPr>
          <p:cNvSpPr txBox="1"/>
          <p:nvPr/>
        </p:nvSpPr>
        <p:spPr>
          <a:xfrm>
            <a:off x="938032" y="5999896"/>
            <a:ext cx="8663167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rgbClr val="2D5986"/>
                </a:solidFill>
                <a:latin typeface="Glacial Indifference"/>
              </a:rPr>
              <a:t>The application runs using docker compose : </a:t>
            </a:r>
            <a:endParaRPr lang="en-US" sz="3100" dirty="0">
              <a:solidFill>
                <a:srgbClr val="2D5986"/>
              </a:solidFill>
              <a:latin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2275786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5334000" y="3911917"/>
            <a:ext cx="9000415" cy="246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0"/>
              </a:lnSpc>
              <a:spcBef>
                <a:spcPct val="0"/>
              </a:spcBef>
            </a:pPr>
            <a:r>
              <a:rPr lang="en-US" sz="14400" dirty="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B03568-8AB4-976E-C230-54FFE0CD3B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705" y="356242"/>
            <a:ext cx="2335343" cy="1049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412</Words>
  <Application>Microsoft Office PowerPoint</Application>
  <PresentationFormat>Custom</PresentationFormat>
  <Paragraphs>95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Glacial Indifference</vt:lpstr>
      <vt:lpstr>Anton</vt:lpstr>
      <vt:lpstr>Calibri</vt:lpstr>
      <vt:lpstr>Wingdings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Blue&amp;White Flat Cyber Security Presentation</dc:title>
  <cp:lastModifiedBy>Arnav Kumar</cp:lastModifiedBy>
  <cp:revision>42</cp:revision>
  <dcterms:created xsi:type="dcterms:W3CDTF">2006-08-16T00:00:00Z</dcterms:created>
  <dcterms:modified xsi:type="dcterms:W3CDTF">2026-08-13T17:52:53Z</dcterms:modified>
  <dc:identifier>DAHHMm14qwE</dc:identifier>
</cp:coreProperties>
</file>